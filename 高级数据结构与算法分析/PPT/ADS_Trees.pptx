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52" r:id="rId3"/>
    <p:sldId id="309" r:id="rId4"/>
    <p:sldId id="310" r:id="rId5"/>
    <p:sldId id="356" r:id="rId6"/>
    <p:sldId id="345" r:id="rId7"/>
    <p:sldId id="346" r:id="rId8"/>
    <p:sldId id="351" r:id="rId9"/>
    <p:sldId id="355" r:id="rId10"/>
    <p:sldId id="347" r:id="rId11"/>
    <p:sldId id="348" r:id="rId12"/>
    <p:sldId id="349" r:id="rId13"/>
    <p:sldId id="350" r:id="rId14"/>
    <p:sldId id="354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07"/>
    <p:restoredTop sz="94660"/>
  </p:normalViewPr>
  <p:slideViewPr>
    <p:cSldViewPr showGuides="1">
      <p:cViewPr varScale="1">
        <p:scale>
          <a:sx n="92" d="100"/>
          <a:sy n="92" d="100"/>
        </p:scale>
        <p:origin x="1664" y="168"/>
      </p:cViewPr>
      <p:guideLst>
        <p:guide orient="horz" pos="35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b="0"/>
            </a:fld>
            <a:endParaRPr lang="en-US" altLang="zh-CN" sz="12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4338" name="Text Box 4"/>
          <p:cNvSpPr txBox="1"/>
          <p:nvPr/>
        </p:nvSpPr>
        <p:spPr>
          <a:xfrm>
            <a:off x="684213" y="1916113"/>
            <a:ext cx="7704137" cy="2147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5400" b="1">
                <a:solidFill>
                  <a:schemeClr val="hlink"/>
                </a:solidFill>
                <a:sym typeface="Webdings" panose="05030102010509060703" pitchFamily="18" charset="2"/>
              </a:rPr>
              <a:t>Red-Black Trees</a:t>
            </a:r>
            <a:endParaRPr lang="en-US" altLang="zh-CN" sz="5400" b="1">
              <a:solidFill>
                <a:schemeClr val="hlink"/>
              </a:solidFill>
              <a:sym typeface="Webdings" panose="05030102010509060703" pitchFamily="18" charset="2"/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5400" b="1">
                <a:solidFill>
                  <a:schemeClr val="hlink"/>
                </a:solidFill>
                <a:sym typeface="Webdings" panose="05030102010509060703" pitchFamily="18" charset="2"/>
              </a:rPr>
              <a:t>and B+ Trees</a:t>
            </a:r>
            <a:endParaRPr lang="en-US" altLang="zh-CN" sz="54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" name="Group 21"/>
          <p:cNvGrpSpPr/>
          <p:nvPr/>
        </p:nvGrpSpPr>
        <p:grpSpPr>
          <a:xfrm>
            <a:off x="684213" y="1354138"/>
            <a:ext cx="6049962" cy="736600"/>
            <a:chOff x="521" y="935"/>
            <a:chExt cx="3811" cy="464"/>
          </a:xfrm>
        </p:grpSpPr>
        <p:graphicFrame>
          <p:nvGraphicFramePr>
            <p:cNvPr id="15450" name="Object 4"/>
            <p:cNvGraphicFramePr>
              <a:graphicFrameLocks noChangeAspect="1"/>
            </p:cNvGraphicFramePr>
            <p:nvPr/>
          </p:nvGraphicFramePr>
          <p:xfrm>
            <a:off x="521" y="935"/>
            <a:ext cx="499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5001875" imgH="15001875" progId="MS_ClipArt_Gallery.2">
                    <p:embed/>
                  </p:oleObj>
                </mc:Choice>
                <mc:Fallback>
                  <p:oleObj name="" r:id="rId1" imgW="15001875" imgH="15001875" progId="MS_ClipArt_Gallery.2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21" y="935"/>
                          <a:ext cx="499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1" name="Text Box 5"/>
            <p:cNvSpPr txBox="1"/>
            <p:nvPr/>
          </p:nvSpPr>
          <p:spPr>
            <a:xfrm>
              <a:off x="1081" y="967"/>
              <a:ext cx="32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1244600" lvl="0" indent="-1244600" eaLnBrk="1" hangingPunct="1">
                <a:spcBef>
                  <a:spcPct val="50000"/>
                </a:spcBef>
                <a:buNone/>
              </a:pPr>
              <a:r>
                <a:rPr lang="en-US" altLang="zh-CN" sz="2800">
                  <a:latin typeface="Impact" panose="020B0806030902050204" pitchFamily="34" charset="0"/>
                </a:rPr>
                <a:t>Target :</a:t>
              </a:r>
              <a:r>
                <a:rPr lang="en-US" altLang="zh-CN" sz="2400" b="1"/>
                <a:t>  Balanced binary search tree</a:t>
              </a:r>
              <a:endParaRPr lang="en-US" altLang="zh-CN" sz="2400" b="1"/>
            </a:p>
          </p:txBody>
        </p:sp>
      </p:grpSp>
      <p:sp>
        <p:nvSpPr>
          <p:cNvPr id="73748" name="Text Box 20"/>
          <p:cNvSpPr txBox="1"/>
          <p:nvPr/>
        </p:nvSpPr>
        <p:spPr>
          <a:xfrm>
            <a:off x="539750" y="692150"/>
            <a:ext cx="3095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ym typeface="Webdings" panose="05030102010509060703" pitchFamily="18" charset="2"/>
              </a:rPr>
              <a:t>Red-Black Trees</a:t>
            </a:r>
            <a:endParaRPr lang="en-US" altLang="zh-CN" sz="2400" b="1"/>
          </a:p>
        </p:txBody>
      </p:sp>
      <p:grpSp>
        <p:nvGrpSpPr>
          <p:cNvPr id="3" name="Group 30"/>
          <p:cNvGrpSpPr/>
          <p:nvPr/>
        </p:nvGrpSpPr>
        <p:grpSpPr>
          <a:xfrm>
            <a:off x="7164388" y="441325"/>
            <a:ext cx="1152525" cy="1295400"/>
            <a:chOff x="4513" y="618"/>
            <a:chExt cx="726" cy="816"/>
          </a:xfrm>
        </p:grpSpPr>
        <p:sp>
          <p:nvSpPr>
            <p:cNvPr id="15442" name="Text Box 22"/>
            <p:cNvSpPr txBox="1"/>
            <p:nvPr/>
          </p:nvSpPr>
          <p:spPr>
            <a:xfrm>
              <a:off x="4876" y="1162"/>
              <a:ext cx="362" cy="16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>
                  <a:solidFill>
                    <a:srgbClr val="FFFFFF"/>
                  </a:solidFill>
                </a:rPr>
                <a:t>right</a:t>
              </a:r>
              <a:endParaRPr lang="en-US" altLang="zh-CN" sz="1600" b="1">
                <a:solidFill>
                  <a:srgbClr val="FFFFFF"/>
                </a:solidFill>
              </a:endParaRPr>
            </a:p>
          </p:txBody>
        </p:sp>
        <p:sp>
          <p:nvSpPr>
            <p:cNvPr id="15443" name="Text Box 23"/>
            <p:cNvSpPr txBox="1"/>
            <p:nvPr/>
          </p:nvSpPr>
          <p:spPr>
            <a:xfrm>
              <a:off x="4513" y="1162"/>
              <a:ext cx="362" cy="16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>
                  <a:solidFill>
                    <a:srgbClr val="FFFFFF"/>
                  </a:solidFill>
                </a:rPr>
                <a:t>left</a:t>
              </a:r>
              <a:endParaRPr lang="en-US" altLang="zh-CN" sz="1600" b="1">
                <a:solidFill>
                  <a:srgbClr val="FFFFFF"/>
                </a:solidFill>
              </a:endParaRPr>
            </a:p>
          </p:txBody>
        </p:sp>
        <p:sp>
          <p:nvSpPr>
            <p:cNvPr id="15444" name="Text Box 24"/>
            <p:cNvSpPr txBox="1"/>
            <p:nvPr/>
          </p:nvSpPr>
          <p:spPr>
            <a:xfrm>
              <a:off x="4513" y="935"/>
              <a:ext cx="36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i="1">
                  <a:solidFill>
                    <a:schemeClr val="hlink"/>
                  </a:solidFill>
                </a:rPr>
                <a:t>color</a:t>
              </a:r>
              <a:endParaRPr lang="en-US" altLang="zh-CN" sz="1600" b="1" i="1">
                <a:solidFill>
                  <a:schemeClr val="hlink"/>
                </a:solidFill>
              </a:endParaRPr>
            </a:p>
          </p:txBody>
        </p:sp>
        <p:sp>
          <p:nvSpPr>
            <p:cNvPr id="15445" name="Text Box 25"/>
            <p:cNvSpPr txBox="1"/>
            <p:nvPr/>
          </p:nvSpPr>
          <p:spPr>
            <a:xfrm>
              <a:off x="4876" y="935"/>
              <a:ext cx="362" cy="216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/>
                <a:t>key</a:t>
              </a:r>
              <a:endParaRPr lang="en-US" altLang="zh-CN" sz="1600" b="1"/>
            </a:p>
          </p:txBody>
        </p:sp>
        <p:sp>
          <p:nvSpPr>
            <p:cNvPr id="15446" name="Text Box 26"/>
            <p:cNvSpPr txBox="1"/>
            <p:nvPr/>
          </p:nvSpPr>
          <p:spPr>
            <a:xfrm>
              <a:off x="4513" y="769"/>
              <a:ext cx="726" cy="16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>
                  <a:solidFill>
                    <a:srgbClr val="FFFFFF"/>
                  </a:solidFill>
                </a:rPr>
                <a:t>parent</a:t>
              </a:r>
              <a:endParaRPr lang="en-US" altLang="zh-CN" sz="1600" b="1">
                <a:solidFill>
                  <a:srgbClr val="FFFFFF"/>
                </a:solidFill>
              </a:endParaRPr>
            </a:p>
          </p:txBody>
        </p:sp>
        <p:sp>
          <p:nvSpPr>
            <p:cNvPr id="15447" name="Line 27"/>
            <p:cNvSpPr/>
            <p:nvPr/>
          </p:nvSpPr>
          <p:spPr>
            <a:xfrm flipH="1">
              <a:off x="4513" y="1298"/>
              <a:ext cx="13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5448" name="Line 28"/>
            <p:cNvSpPr/>
            <p:nvPr/>
          </p:nvSpPr>
          <p:spPr>
            <a:xfrm>
              <a:off x="5103" y="1298"/>
              <a:ext cx="13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5449" name="Line 29"/>
            <p:cNvSpPr/>
            <p:nvPr/>
          </p:nvSpPr>
          <p:spPr>
            <a:xfrm flipH="1" flipV="1">
              <a:off x="4876" y="618"/>
              <a:ext cx="0" cy="1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</p:grpSp>
      <p:grpSp>
        <p:nvGrpSpPr>
          <p:cNvPr id="4" name="Group 35"/>
          <p:cNvGrpSpPr/>
          <p:nvPr/>
        </p:nvGrpSpPr>
        <p:grpSpPr>
          <a:xfrm>
            <a:off x="7019925" y="1736725"/>
            <a:ext cx="1512888" cy="396875"/>
            <a:chOff x="4422" y="1434"/>
            <a:chExt cx="953" cy="250"/>
          </a:xfrm>
        </p:grpSpPr>
        <p:sp>
          <p:nvSpPr>
            <p:cNvPr id="15440" name="Text Box 31"/>
            <p:cNvSpPr txBox="1"/>
            <p:nvPr/>
          </p:nvSpPr>
          <p:spPr>
            <a:xfrm>
              <a:off x="4422" y="1434"/>
              <a:ext cx="8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/>
                <a:t>NULL =</a:t>
              </a:r>
              <a:endParaRPr lang="en-US" altLang="zh-CN" sz="2000" b="1"/>
            </a:p>
          </p:txBody>
        </p:sp>
        <p:sp>
          <p:nvSpPr>
            <p:cNvPr id="15441" name="Text Box 33"/>
            <p:cNvSpPr txBox="1"/>
            <p:nvPr/>
          </p:nvSpPr>
          <p:spPr>
            <a:xfrm>
              <a:off x="5103" y="1480"/>
              <a:ext cx="272" cy="134"/>
            </a:xfrm>
            <a:prstGeom prst="rect">
              <a:avLst/>
            </a:prstGeom>
            <a:solidFill>
              <a:schemeClr val="tx1"/>
            </a:solidFill>
            <a:ln w="25400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NIL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</p:grpSp>
      <p:sp>
        <p:nvSpPr>
          <p:cNvPr id="73764" name="Text Box 36"/>
          <p:cNvSpPr txBox="1"/>
          <p:nvPr/>
        </p:nvSpPr>
        <p:spPr>
          <a:xfrm>
            <a:off x="611188" y="2146300"/>
            <a:ext cx="8208962" cy="2590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>
                <a:latin typeface="Arial" panose="020B0604020202020204" pitchFamily="34" charset="0"/>
              </a:rPr>
              <a:t>【Definition】</a:t>
            </a:r>
            <a:r>
              <a:rPr lang="en-US" altLang="zh-CN" sz="2000" b="1">
                <a:latin typeface="Arial" panose="020B0604020202020204" pitchFamily="34" charset="0"/>
              </a:rPr>
              <a:t>A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red-black tree</a:t>
            </a:r>
            <a:r>
              <a:rPr lang="en-US" altLang="zh-CN" sz="2000" b="1">
                <a:latin typeface="Arial" panose="020B0604020202020204" pitchFamily="34" charset="0"/>
              </a:rPr>
              <a:t> is a binary search tree that satisfies the following </a:t>
            </a:r>
            <a:r>
              <a:rPr lang="en-US" altLang="zh-CN" sz="2000" b="1" i="1">
                <a:latin typeface="Arial" panose="020B0604020202020204" pitchFamily="34" charset="0"/>
              </a:rPr>
              <a:t>red-black properties</a:t>
            </a:r>
            <a:r>
              <a:rPr lang="en-US" altLang="zh-CN" sz="2000" b="1">
                <a:latin typeface="Arial" panose="020B0604020202020204" pitchFamily="34" charset="0"/>
              </a:rPr>
              <a:t>: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(1)  Every node is either </a:t>
            </a:r>
            <a:r>
              <a:rPr lang="en-US" altLang="zh-CN" sz="2000" b="1">
                <a:solidFill>
                  <a:srgbClr val="FF0000"/>
                </a:solidFill>
                <a:latin typeface="Arial Black" panose="020B0A04020102020204" pitchFamily="34" charset="0"/>
              </a:rPr>
              <a:t>red</a:t>
            </a:r>
            <a:r>
              <a:rPr lang="en-US" altLang="zh-CN" sz="2000" b="1">
                <a:latin typeface="Arial" panose="020B0604020202020204" pitchFamily="34" charset="0"/>
              </a:rPr>
              <a:t> or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(2)  The root is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(3)  Every leaf (NIL) is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AutoNum type="arabicParenBoth" startAt="4"/>
            </a:pPr>
            <a:r>
              <a:rPr lang="en-US" altLang="zh-CN" sz="2000" b="1">
                <a:latin typeface="Arial" panose="020B0604020202020204" pitchFamily="34" charset="0"/>
              </a:rPr>
              <a:t>If a node is </a:t>
            </a:r>
            <a:r>
              <a:rPr lang="en-US" altLang="zh-CN" sz="2000" b="1">
                <a:solidFill>
                  <a:srgbClr val="FF0000"/>
                </a:solidFill>
                <a:latin typeface="Arial Black" panose="020B0A04020102020204" pitchFamily="34" charset="0"/>
              </a:rPr>
              <a:t>red</a:t>
            </a:r>
            <a:r>
              <a:rPr lang="en-US" altLang="zh-CN" sz="2000" b="1">
                <a:latin typeface="Arial" panose="020B0604020202020204" pitchFamily="34" charset="0"/>
              </a:rPr>
              <a:t>, then both its children are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AutoNum type="arabicParenBoth" startAt="4"/>
            </a:pPr>
            <a:r>
              <a:rPr lang="en-US" altLang="zh-CN" sz="2000" b="1">
                <a:latin typeface="Arial" panose="020B0604020202020204" pitchFamily="34" charset="0"/>
              </a:rPr>
              <a:t>For each node, all simple paths from the node to descendant leaves contain the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same number of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 nodes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grpSp>
        <p:nvGrpSpPr>
          <p:cNvPr id="5" name="Group 90"/>
          <p:cNvGrpSpPr/>
          <p:nvPr/>
        </p:nvGrpSpPr>
        <p:grpSpPr>
          <a:xfrm>
            <a:off x="1476375" y="4811713"/>
            <a:ext cx="2160588" cy="1441450"/>
            <a:chOff x="295" y="3203"/>
            <a:chExt cx="1361" cy="908"/>
          </a:xfrm>
        </p:grpSpPr>
        <p:sp>
          <p:nvSpPr>
            <p:cNvPr id="15414" name="Oval 38"/>
            <p:cNvSpPr/>
            <p:nvPr/>
          </p:nvSpPr>
          <p:spPr>
            <a:xfrm>
              <a:off x="884" y="3203"/>
              <a:ext cx="182" cy="182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5" name="Text Box 39"/>
            <p:cNvSpPr txBox="1"/>
            <p:nvPr/>
          </p:nvSpPr>
          <p:spPr>
            <a:xfrm>
              <a:off x="884" y="3203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7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16" name="Oval 42"/>
            <p:cNvSpPr/>
            <p:nvPr/>
          </p:nvSpPr>
          <p:spPr>
            <a:xfrm>
              <a:off x="476" y="3430"/>
              <a:ext cx="182" cy="182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7" name="Text Box 43"/>
            <p:cNvSpPr txBox="1"/>
            <p:nvPr/>
          </p:nvSpPr>
          <p:spPr>
            <a:xfrm>
              <a:off x="476" y="3430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2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18" name="Line 53"/>
            <p:cNvSpPr/>
            <p:nvPr/>
          </p:nvSpPr>
          <p:spPr>
            <a:xfrm flipH="1">
              <a:off x="385" y="3566"/>
              <a:ext cx="9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9" name="Line 54"/>
            <p:cNvSpPr/>
            <p:nvPr/>
          </p:nvSpPr>
          <p:spPr>
            <a:xfrm>
              <a:off x="657" y="3566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0" name="Line 55"/>
            <p:cNvSpPr/>
            <p:nvPr/>
          </p:nvSpPr>
          <p:spPr>
            <a:xfrm flipH="1">
              <a:off x="612" y="3294"/>
              <a:ext cx="272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1" name="Line 65"/>
            <p:cNvSpPr/>
            <p:nvPr/>
          </p:nvSpPr>
          <p:spPr>
            <a:xfrm flipH="1">
              <a:off x="1156" y="3566"/>
              <a:ext cx="9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2" name="Line 66"/>
            <p:cNvSpPr/>
            <p:nvPr/>
          </p:nvSpPr>
          <p:spPr>
            <a:xfrm>
              <a:off x="1428" y="3566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3" name="Line 67"/>
            <p:cNvSpPr/>
            <p:nvPr/>
          </p:nvSpPr>
          <p:spPr>
            <a:xfrm>
              <a:off x="1066" y="3294"/>
              <a:ext cx="272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4" name="Line 71"/>
            <p:cNvSpPr/>
            <p:nvPr/>
          </p:nvSpPr>
          <p:spPr>
            <a:xfrm flipH="1">
              <a:off x="565" y="3837"/>
              <a:ext cx="9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5" name="Line 75"/>
            <p:cNvSpPr/>
            <p:nvPr/>
          </p:nvSpPr>
          <p:spPr>
            <a:xfrm>
              <a:off x="1519" y="3837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6" name="Oval 76"/>
            <p:cNvSpPr/>
            <p:nvPr/>
          </p:nvSpPr>
          <p:spPr>
            <a:xfrm>
              <a:off x="295" y="3657"/>
              <a:ext cx="182" cy="182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27" name="Text Box 77"/>
            <p:cNvSpPr txBox="1"/>
            <p:nvPr/>
          </p:nvSpPr>
          <p:spPr>
            <a:xfrm>
              <a:off x="295" y="3657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1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28" name="Oval 78"/>
            <p:cNvSpPr/>
            <p:nvPr/>
          </p:nvSpPr>
          <p:spPr>
            <a:xfrm>
              <a:off x="612" y="3657"/>
              <a:ext cx="182" cy="182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29" name="Text Box 79"/>
            <p:cNvSpPr txBox="1"/>
            <p:nvPr/>
          </p:nvSpPr>
          <p:spPr>
            <a:xfrm>
              <a:off x="612" y="3657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5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30" name="Oval 80"/>
            <p:cNvSpPr/>
            <p:nvPr/>
          </p:nvSpPr>
          <p:spPr>
            <a:xfrm>
              <a:off x="1066" y="3657"/>
              <a:ext cx="182" cy="182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31" name="Text Box 81"/>
            <p:cNvSpPr txBox="1"/>
            <p:nvPr/>
          </p:nvSpPr>
          <p:spPr>
            <a:xfrm>
              <a:off x="1066" y="3657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8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32" name="Oval 82"/>
            <p:cNvSpPr/>
            <p:nvPr/>
          </p:nvSpPr>
          <p:spPr>
            <a:xfrm>
              <a:off x="1383" y="3657"/>
              <a:ext cx="182" cy="182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33" name="Text Box 83"/>
            <p:cNvSpPr txBox="1"/>
            <p:nvPr/>
          </p:nvSpPr>
          <p:spPr>
            <a:xfrm>
              <a:off x="1383" y="3657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14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34" name="Oval 84"/>
            <p:cNvSpPr/>
            <p:nvPr/>
          </p:nvSpPr>
          <p:spPr>
            <a:xfrm>
              <a:off x="1247" y="3430"/>
              <a:ext cx="182" cy="182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35" name="Text Box 85"/>
            <p:cNvSpPr txBox="1"/>
            <p:nvPr/>
          </p:nvSpPr>
          <p:spPr>
            <a:xfrm>
              <a:off x="1247" y="3430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11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36" name="Oval 86"/>
            <p:cNvSpPr/>
            <p:nvPr/>
          </p:nvSpPr>
          <p:spPr>
            <a:xfrm>
              <a:off x="476" y="3929"/>
              <a:ext cx="182" cy="182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37" name="Text Box 87"/>
            <p:cNvSpPr txBox="1"/>
            <p:nvPr/>
          </p:nvSpPr>
          <p:spPr>
            <a:xfrm>
              <a:off x="476" y="3929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4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  <p:sp>
          <p:nvSpPr>
            <p:cNvPr id="15438" name="Oval 88"/>
            <p:cNvSpPr/>
            <p:nvPr/>
          </p:nvSpPr>
          <p:spPr>
            <a:xfrm>
              <a:off x="1474" y="3929"/>
              <a:ext cx="182" cy="182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39" name="Text Box 89"/>
            <p:cNvSpPr txBox="1"/>
            <p:nvPr/>
          </p:nvSpPr>
          <p:spPr>
            <a:xfrm>
              <a:off x="1474" y="3929"/>
              <a:ext cx="182" cy="18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>
                  <a:solidFill>
                    <a:srgbClr val="FFFFFF"/>
                  </a:solidFill>
                </a:rPr>
                <a:t>15</a:t>
              </a:r>
              <a:endParaRPr lang="en-US" altLang="zh-CN" sz="1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138"/>
          <p:cNvGrpSpPr/>
          <p:nvPr/>
        </p:nvGrpSpPr>
        <p:grpSpPr>
          <a:xfrm>
            <a:off x="3995738" y="4954588"/>
            <a:ext cx="2771775" cy="1187450"/>
            <a:chOff x="2472" y="3113"/>
            <a:chExt cx="1746" cy="748"/>
          </a:xfrm>
        </p:grpSpPr>
        <p:sp>
          <p:nvSpPr>
            <p:cNvPr id="15375" name="Oval 91"/>
            <p:cNvSpPr/>
            <p:nvPr/>
          </p:nvSpPr>
          <p:spPr>
            <a:xfrm>
              <a:off x="3515" y="3113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76" name="Oval 93"/>
            <p:cNvSpPr/>
            <p:nvPr/>
          </p:nvSpPr>
          <p:spPr>
            <a:xfrm>
              <a:off x="3901" y="3249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77" name="Oval 94"/>
            <p:cNvSpPr/>
            <p:nvPr/>
          </p:nvSpPr>
          <p:spPr>
            <a:xfrm>
              <a:off x="2880" y="3385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78" name="Oval 95"/>
            <p:cNvSpPr/>
            <p:nvPr/>
          </p:nvSpPr>
          <p:spPr>
            <a:xfrm>
              <a:off x="3379" y="3385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79" name="Oval 97"/>
            <p:cNvSpPr/>
            <p:nvPr/>
          </p:nvSpPr>
          <p:spPr>
            <a:xfrm>
              <a:off x="4150" y="3385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0" name="Oval 99"/>
            <p:cNvSpPr/>
            <p:nvPr/>
          </p:nvSpPr>
          <p:spPr>
            <a:xfrm>
              <a:off x="2971" y="3521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1" name="Oval 100"/>
            <p:cNvSpPr/>
            <p:nvPr/>
          </p:nvSpPr>
          <p:spPr>
            <a:xfrm>
              <a:off x="3198" y="3521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2" name="Oval 101"/>
            <p:cNvSpPr/>
            <p:nvPr/>
          </p:nvSpPr>
          <p:spPr>
            <a:xfrm>
              <a:off x="3470" y="3521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3" name="Oval 102"/>
            <p:cNvSpPr/>
            <p:nvPr/>
          </p:nvSpPr>
          <p:spPr>
            <a:xfrm>
              <a:off x="3606" y="3521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4" name="Oval 103"/>
            <p:cNvSpPr/>
            <p:nvPr/>
          </p:nvSpPr>
          <p:spPr>
            <a:xfrm>
              <a:off x="3878" y="3521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5" name="Oval 104"/>
            <p:cNvSpPr/>
            <p:nvPr/>
          </p:nvSpPr>
          <p:spPr>
            <a:xfrm>
              <a:off x="2562" y="3657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6" name="Oval 105"/>
            <p:cNvSpPr/>
            <p:nvPr/>
          </p:nvSpPr>
          <p:spPr>
            <a:xfrm>
              <a:off x="2744" y="3657"/>
              <a:ext cx="68" cy="68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387" name="Line 111"/>
            <p:cNvSpPr/>
            <p:nvPr/>
          </p:nvSpPr>
          <p:spPr>
            <a:xfrm flipH="1">
              <a:off x="3198" y="3158"/>
              <a:ext cx="362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8" name="Line 113"/>
            <p:cNvSpPr/>
            <p:nvPr/>
          </p:nvSpPr>
          <p:spPr>
            <a:xfrm>
              <a:off x="3560" y="3158"/>
              <a:ext cx="362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9" name="Line 114"/>
            <p:cNvSpPr/>
            <p:nvPr/>
          </p:nvSpPr>
          <p:spPr>
            <a:xfrm flipH="1">
              <a:off x="2925" y="3294"/>
              <a:ext cx="227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0" name="Line 115"/>
            <p:cNvSpPr/>
            <p:nvPr/>
          </p:nvSpPr>
          <p:spPr>
            <a:xfrm flipH="1">
              <a:off x="2744" y="3430"/>
              <a:ext cx="13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1" name="Line 116"/>
            <p:cNvSpPr/>
            <p:nvPr/>
          </p:nvSpPr>
          <p:spPr>
            <a:xfrm flipH="1">
              <a:off x="2608" y="3566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2" name="Line 117"/>
            <p:cNvSpPr/>
            <p:nvPr/>
          </p:nvSpPr>
          <p:spPr>
            <a:xfrm flipH="1">
              <a:off x="2517" y="3702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3" name="Line 118"/>
            <p:cNvSpPr/>
            <p:nvPr/>
          </p:nvSpPr>
          <p:spPr>
            <a:xfrm flipH="1">
              <a:off x="2925" y="3566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4" name="Line 119"/>
            <p:cNvSpPr/>
            <p:nvPr/>
          </p:nvSpPr>
          <p:spPr>
            <a:xfrm flipH="1">
              <a:off x="3243" y="3430"/>
              <a:ext cx="13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5" name="Line 120"/>
            <p:cNvSpPr/>
            <p:nvPr/>
          </p:nvSpPr>
          <p:spPr>
            <a:xfrm flipH="1">
              <a:off x="3651" y="3430"/>
              <a:ext cx="45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6" name="Line 121"/>
            <p:cNvSpPr/>
            <p:nvPr/>
          </p:nvSpPr>
          <p:spPr>
            <a:xfrm flipH="1">
              <a:off x="3742" y="3294"/>
              <a:ext cx="18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7" name="Line 122"/>
            <p:cNvSpPr/>
            <p:nvPr/>
          </p:nvSpPr>
          <p:spPr>
            <a:xfrm flipH="1">
              <a:off x="3833" y="3566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8" name="Line 123"/>
            <p:cNvSpPr/>
            <p:nvPr/>
          </p:nvSpPr>
          <p:spPr>
            <a:xfrm>
              <a:off x="3969" y="3294"/>
              <a:ext cx="22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9" name="Line 124"/>
            <p:cNvSpPr/>
            <p:nvPr/>
          </p:nvSpPr>
          <p:spPr>
            <a:xfrm>
              <a:off x="3198" y="3294"/>
              <a:ext cx="18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0" name="Line 125"/>
            <p:cNvSpPr/>
            <p:nvPr/>
          </p:nvSpPr>
          <p:spPr>
            <a:xfrm>
              <a:off x="2925" y="3430"/>
              <a:ext cx="4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1" name="Line 126"/>
            <p:cNvSpPr/>
            <p:nvPr/>
          </p:nvSpPr>
          <p:spPr>
            <a:xfrm>
              <a:off x="2744" y="3566"/>
              <a:ext cx="4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2" name="Line 127"/>
            <p:cNvSpPr/>
            <p:nvPr/>
          </p:nvSpPr>
          <p:spPr>
            <a:xfrm>
              <a:off x="3243" y="3566"/>
              <a:ext cx="4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3" name="Line 128"/>
            <p:cNvSpPr/>
            <p:nvPr/>
          </p:nvSpPr>
          <p:spPr>
            <a:xfrm>
              <a:off x="3424" y="3430"/>
              <a:ext cx="4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4" name="Line 129"/>
            <p:cNvSpPr/>
            <p:nvPr/>
          </p:nvSpPr>
          <p:spPr>
            <a:xfrm>
              <a:off x="3742" y="3430"/>
              <a:ext cx="136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5" name="Line 130"/>
            <p:cNvSpPr/>
            <p:nvPr/>
          </p:nvSpPr>
          <p:spPr>
            <a:xfrm>
              <a:off x="3923" y="3566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6" name="Oval 92"/>
            <p:cNvSpPr/>
            <p:nvPr/>
          </p:nvSpPr>
          <p:spPr>
            <a:xfrm>
              <a:off x="3152" y="3249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07" name="Oval 131"/>
            <p:cNvSpPr/>
            <p:nvPr/>
          </p:nvSpPr>
          <p:spPr>
            <a:xfrm>
              <a:off x="2699" y="3521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08" name="Oval 132"/>
            <p:cNvSpPr/>
            <p:nvPr/>
          </p:nvSpPr>
          <p:spPr>
            <a:xfrm>
              <a:off x="2472" y="3793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09" name="Oval 133"/>
            <p:cNvSpPr/>
            <p:nvPr/>
          </p:nvSpPr>
          <p:spPr>
            <a:xfrm>
              <a:off x="2880" y="3657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0" name="Oval 134"/>
            <p:cNvSpPr/>
            <p:nvPr/>
          </p:nvSpPr>
          <p:spPr>
            <a:xfrm>
              <a:off x="3266" y="3657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1" name="Oval 135"/>
            <p:cNvSpPr/>
            <p:nvPr/>
          </p:nvSpPr>
          <p:spPr>
            <a:xfrm>
              <a:off x="3696" y="3385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2" name="Oval 136"/>
            <p:cNvSpPr/>
            <p:nvPr/>
          </p:nvSpPr>
          <p:spPr>
            <a:xfrm>
              <a:off x="3787" y="3657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5413" name="Oval 137"/>
            <p:cNvSpPr/>
            <p:nvPr/>
          </p:nvSpPr>
          <p:spPr>
            <a:xfrm>
              <a:off x="3969" y="3657"/>
              <a:ext cx="68" cy="6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sp>
        <p:nvSpPr>
          <p:cNvPr id="73867" name="AutoShape 139"/>
          <p:cNvSpPr/>
          <p:nvPr/>
        </p:nvSpPr>
        <p:spPr>
          <a:xfrm>
            <a:off x="6659563" y="4738688"/>
            <a:ext cx="2078037" cy="525462"/>
          </a:xfrm>
          <a:prstGeom prst="wedgeEllipseCallout">
            <a:avLst>
              <a:gd name="adj1" fmla="val -66426"/>
              <a:gd name="adj2" fmla="val 40333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Internal node</a:t>
            </a:r>
            <a:endParaRPr lang="en-US" altLang="zh-CN" sz="2400" b="1"/>
          </a:p>
        </p:txBody>
      </p:sp>
      <p:sp>
        <p:nvSpPr>
          <p:cNvPr id="73868" name="AutoShape 140"/>
          <p:cNvSpPr/>
          <p:nvPr/>
        </p:nvSpPr>
        <p:spPr>
          <a:xfrm>
            <a:off x="6804025" y="5314950"/>
            <a:ext cx="2078038" cy="525463"/>
          </a:xfrm>
          <a:prstGeom prst="wedgeEllipseCallout">
            <a:avLst>
              <a:gd name="adj1" fmla="val -78722"/>
              <a:gd name="adj2" fmla="val 10468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External node</a:t>
            </a:r>
            <a:endParaRPr lang="en-US" altLang="zh-CN" sz="2400" b="1"/>
          </a:p>
        </p:txBody>
      </p:sp>
      <p:grpSp>
        <p:nvGrpSpPr>
          <p:cNvPr id="7" name="Group 142"/>
          <p:cNvGrpSpPr/>
          <p:nvPr/>
        </p:nvGrpSpPr>
        <p:grpSpPr>
          <a:xfrm>
            <a:off x="5795963" y="5891213"/>
            <a:ext cx="431800" cy="357187"/>
            <a:chOff x="3651" y="3793"/>
            <a:chExt cx="272" cy="225"/>
          </a:xfrm>
        </p:grpSpPr>
        <p:sp>
          <p:nvSpPr>
            <p:cNvPr id="15373" name="Text Box 34"/>
            <p:cNvSpPr txBox="1"/>
            <p:nvPr/>
          </p:nvSpPr>
          <p:spPr>
            <a:xfrm>
              <a:off x="3651" y="3884"/>
              <a:ext cx="272" cy="134"/>
            </a:xfrm>
            <a:prstGeom prst="rect">
              <a:avLst/>
            </a:prstGeom>
            <a:solidFill>
              <a:schemeClr val="tx1"/>
            </a:solidFill>
            <a:ln w="25400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NIL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5374" name="Line 141"/>
            <p:cNvSpPr/>
            <p:nvPr/>
          </p:nvSpPr>
          <p:spPr>
            <a:xfrm flipH="1">
              <a:off x="3742" y="3793"/>
              <a:ext cx="91" cy="91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372" name="Text Box 143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37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73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73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8" grpId="0"/>
      <p:bldP spid="73764" grpId="0"/>
      <p:bldP spid="73867" grpId="0" animBg="1"/>
      <p:bldP spid="738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6386" name="Text Box 72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sp>
        <p:nvSpPr>
          <p:cNvPr id="74825" name="Text Box 73"/>
          <p:cNvSpPr txBox="1"/>
          <p:nvPr/>
        </p:nvSpPr>
        <p:spPr>
          <a:xfrm>
            <a:off x="539750" y="476250"/>
            <a:ext cx="7924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>
                <a:latin typeface="Arial" panose="020B0604020202020204" pitchFamily="34" charset="0"/>
              </a:rPr>
              <a:t>【Definition】 </a:t>
            </a:r>
            <a:r>
              <a:rPr lang="en-US" altLang="zh-CN" sz="2000" b="1">
                <a:latin typeface="Arial" panose="020B0604020202020204" pitchFamily="34" charset="0"/>
              </a:rPr>
              <a:t>The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black-height</a:t>
            </a:r>
            <a:r>
              <a:rPr lang="en-US" altLang="zh-CN" sz="2000" b="1">
                <a:latin typeface="Arial" panose="020B0604020202020204" pitchFamily="34" charset="0"/>
              </a:rPr>
              <a:t> of any node x, denoted by bh(x), is the number of </a:t>
            </a:r>
            <a:r>
              <a:rPr lang="en-US" altLang="zh-CN" sz="2000" b="1">
                <a:latin typeface="Arial Black" panose="020B0A04020102020204" pitchFamily="34" charset="0"/>
              </a:rPr>
              <a:t>black</a:t>
            </a:r>
            <a:r>
              <a:rPr lang="en-US" altLang="zh-CN" sz="2000" b="1">
                <a:latin typeface="Arial" panose="020B0604020202020204" pitchFamily="34" charset="0"/>
              </a:rPr>
              <a:t> nodes on any simple path from x (x not included) down to a leaf.  bh(Tree) = bh(root).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sp>
        <p:nvSpPr>
          <p:cNvPr id="74826" name="Text Box 74"/>
          <p:cNvSpPr txBox="1"/>
          <p:nvPr/>
        </p:nvSpPr>
        <p:spPr>
          <a:xfrm>
            <a:off x="539750" y="1628775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>
                <a:latin typeface="Arial" panose="020B0604020202020204" pitchFamily="34" charset="0"/>
              </a:rPr>
              <a:t>【Lemma】 </a:t>
            </a:r>
            <a:r>
              <a:rPr lang="en-US" altLang="zh-CN" sz="2000" b="1">
                <a:latin typeface="Arial" panose="020B0604020202020204" pitchFamily="34" charset="0"/>
              </a:rPr>
              <a:t>A red-black tree with </a:t>
            </a:r>
            <a:r>
              <a:rPr lang="en-US" altLang="zh-CN" sz="2000" b="1" i="1"/>
              <a:t>N</a:t>
            </a:r>
            <a:r>
              <a:rPr lang="en-US" altLang="zh-CN" sz="2000" b="1">
                <a:latin typeface="Arial" panose="020B0604020202020204" pitchFamily="34" charset="0"/>
              </a:rPr>
              <a:t> internal nodes has height at most </a:t>
            </a:r>
            <a:r>
              <a:rPr lang="en-US" altLang="zh-CN" sz="2000" b="1"/>
              <a:t>2ln(</a:t>
            </a:r>
            <a:r>
              <a:rPr lang="en-US" altLang="zh-CN" sz="2000" b="1" i="1"/>
              <a:t>N</a:t>
            </a:r>
            <a:r>
              <a:rPr lang="en-US" altLang="zh-CN" sz="2400" b="1"/>
              <a:t> </a:t>
            </a:r>
            <a:r>
              <a:rPr lang="en-US" altLang="zh-CN" sz="2000" b="1"/>
              <a:t>+1).</a:t>
            </a:r>
            <a:endParaRPr lang="en-US" altLang="zh-CN" sz="2000" b="1"/>
          </a:p>
        </p:txBody>
      </p:sp>
      <p:sp>
        <p:nvSpPr>
          <p:cNvPr id="74827" name="Text Box 75"/>
          <p:cNvSpPr txBox="1"/>
          <p:nvPr/>
        </p:nvSpPr>
        <p:spPr>
          <a:xfrm>
            <a:off x="684213" y="2420938"/>
            <a:ext cx="7775575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Proof: </a:t>
            </a:r>
            <a:r>
              <a:rPr lang="en-US" altLang="zh-CN" sz="2000" b="1">
                <a:sym typeface="Wingdings" panose="05000000000000000000" pitchFamily="2" charset="2"/>
              </a:rPr>
              <a:t> For any node </a:t>
            </a:r>
            <a:r>
              <a:rPr lang="en-US" altLang="zh-CN" sz="2000" b="1" i="1">
                <a:sym typeface="Wingdings" panose="05000000000000000000" pitchFamily="2" charset="2"/>
              </a:rPr>
              <a:t>x</a:t>
            </a:r>
            <a:r>
              <a:rPr lang="en-US" altLang="zh-CN" sz="2000" b="1">
                <a:sym typeface="Wingdings" panose="05000000000000000000" pitchFamily="2" charset="2"/>
              </a:rPr>
              <a:t>, sizeof(</a:t>
            </a:r>
            <a:r>
              <a:rPr lang="en-US" altLang="zh-CN" sz="2000" b="1" i="1">
                <a:sym typeface="Wingdings" panose="05000000000000000000" pitchFamily="2" charset="2"/>
              </a:rPr>
              <a:t>x</a:t>
            </a:r>
            <a:r>
              <a:rPr lang="en-US" altLang="zh-CN" sz="2000" b="1">
                <a:sym typeface="Wingdings" panose="05000000000000000000" pitchFamily="2" charset="2"/>
              </a:rPr>
              <a:t>) </a:t>
            </a:r>
            <a:r>
              <a:rPr lang="en-US" altLang="zh-CN" sz="2000" b="1">
                <a:sym typeface="Symbol" panose="05050102010706020507" pitchFamily="18" charset="2"/>
              </a:rPr>
              <a:t> 2</a:t>
            </a:r>
            <a:r>
              <a:rPr lang="en-US" altLang="zh-CN" sz="2000" b="1" baseline="30000">
                <a:sym typeface="Symbol" panose="05050102010706020507" pitchFamily="18" charset="2"/>
              </a:rPr>
              <a:t>bh(</a:t>
            </a:r>
            <a:r>
              <a:rPr lang="en-US" altLang="zh-CN" sz="2000" b="1" i="1" baseline="30000">
                <a:sym typeface="Symbol" panose="05050102010706020507" pitchFamily="18" charset="2"/>
              </a:rPr>
              <a:t>x</a:t>
            </a:r>
            <a:r>
              <a:rPr lang="en-US" altLang="zh-CN" sz="2000" b="1" baseline="30000">
                <a:sym typeface="Symbol" panose="05050102010706020507" pitchFamily="18" charset="2"/>
              </a:rPr>
              <a:t>)</a:t>
            </a:r>
            <a:r>
              <a:rPr lang="en-US" altLang="zh-CN" sz="2000" b="1">
                <a:sym typeface="Symbol" panose="05050102010706020507" pitchFamily="18" charset="2"/>
              </a:rPr>
              <a:t> – 1.  Prove b</a:t>
            </a:r>
            <a:r>
              <a:rPr lang="en-US" altLang="zh-CN" sz="2000" b="1"/>
              <a:t>y induction.</a:t>
            </a:r>
            <a:endParaRPr lang="en-US" altLang="zh-CN" sz="2000" b="1"/>
          </a:p>
        </p:txBody>
      </p:sp>
      <p:grpSp>
        <p:nvGrpSpPr>
          <p:cNvPr id="2" name="Group 78"/>
          <p:cNvGrpSpPr/>
          <p:nvPr/>
        </p:nvGrpSpPr>
        <p:grpSpPr>
          <a:xfrm>
            <a:off x="1474788" y="2779713"/>
            <a:ext cx="5761037" cy="396875"/>
            <a:chOff x="476" y="1842"/>
            <a:chExt cx="3629" cy="250"/>
          </a:xfrm>
        </p:grpSpPr>
        <p:sp>
          <p:nvSpPr>
            <p:cNvPr id="16402" name="Text Box 76"/>
            <p:cNvSpPr txBox="1"/>
            <p:nvPr/>
          </p:nvSpPr>
          <p:spPr>
            <a:xfrm>
              <a:off x="476" y="1842"/>
              <a:ext cx="3629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/>
                <a:t>If </a:t>
              </a:r>
              <a:r>
                <a:rPr lang="en-US" altLang="zh-CN" sz="2000" b="1" i="1"/>
                <a:t>h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x</a:t>
              </a:r>
              <a:r>
                <a:rPr lang="en-US" altLang="zh-CN" sz="2000" b="1"/>
                <a:t>) = 0, </a:t>
              </a:r>
              <a:r>
                <a:rPr lang="en-US" altLang="zh-CN" sz="2000" b="1" i="1"/>
                <a:t>x</a:t>
              </a:r>
              <a:r>
                <a:rPr lang="en-US" altLang="zh-CN" sz="2000" b="1"/>
                <a:t> is NULL              sizeof(</a:t>
              </a:r>
              <a:r>
                <a:rPr lang="en-US" altLang="zh-CN" sz="2000" b="1" i="1"/>
                <a:t>x</a:t>
              </a:r>
              <a:r>
                <a:rPr lang="en-US" altLang="zh-CN" sz="2000" b="1"/>
                <a:t>) = 2</a:t>
              </a:r>
              <a:r>
                <a:rPr lang="en-US" altLang="zh-CN" sz="2000" b="1" baseline="30000"/>
                <a:t>0</a:t>
              </a:r>
              <a:r>
                <a:rPr lang="en-US" altLang="zh-CN" sz="2000" b="1"/>
                <a:t> – 1 = 0</a:t>
              </a:r>
              <a:endParaRPr lang="en-US" altLang="zh-CN" sz="2000" b="1"/>
            </a:p>
          </p:txBody>
        </p:sp>
        <p:sp>
          <p:nvSpPr>
            <p:cNvPr id="16403" name="AutoShape 77"/>
            <p:cNvSpPr/>
            <p:nvPr/>
          </p:nvSpPr>
          <p:spPr>
            <a:xfrm>
              <a:off x="2154" y="1933"/>
              <a:ext cx="272" cy="91"/>
            </a:xfrm>
            <a:prstGeom prst="rightArrow">
              <a:avLst>
                <a:gd name="adj1" fmla="val 50000"/>
                <a:gd name="adj2" fmla="val 74725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sp>
        <p:nvSpPr>
          <p:cNvPr id="74831" name="Text Box 79"/>
          <p:cNvSpPr txBox="1"/>
          <p:nvPr/>
        </p:nvSpPr>
        <p:spPr>
          <a:xfrm>
            <a:off x="7019925" y="2636838"/>
            <a:ext cx="647700" cy="57943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FF0000"/>
                </a:solidFill>
                <a:sym typeface="Webdings" panose="05030102010509060703" pitchFamily="18" charset="2"/>
              </a:rPr>
              <a:t></a:t>
            </a:r>
            <a:endParaRPr lang="en-US" altLang="zh-CN" b="1">
              <a:solidFill>
                <a:srgbClr val="FF0000"/>
              </a:solidFill>
              <a:sym typeface="Webdings" panose="05030102010509060703" pitchFamily="18" charset="2"/>
            </a:endParaRPr>
          </a:p>
        </p:txBody>
      </p:sp>
      <p:sp>
        <p:nvSpPr>
          <p:cNvPr id="74832" name="Text Box 80"/>
          <p:cNvSpPr txBox="1"/>
          <p:nvPr/>
        </p:nvSpPr>
        <p:spPr>
          <a:xfrm>
            <a:off x="1476375" y="3103563"/>
            <a:ext cx="4608513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Suppose it is true for all </a:t>
            </a:r>
            <a:r>
              <a:rPr lang="en-US" altLang="zh-CN" sz="2000" b="1" i="1"/>
              <a:t>x</a:t>
            </a:r>
            <a:r>
              <a:rPr lang="en-US" altLang="zh-CN" sz="2000" b="1"/>
              <a:t> with </a:t>
            </a:r>
            <a:r>
              <a:rPr lang="en-US" altLang="zh-CN" sz="2000" b="1" i="1"/>
              <a:t>h</a:t>
            </a:r>
            <a:r>
              <a:rPr lang="en-US" altLang="zh-CN" sz="2000" b="1"/>
              <a:t>(</a:t>
            </a:r>
            <a:r>
              <a:rPr lang="en-US" altLang="zh-CN" sz="2000" b="1" i="1"/>
              <a:t>x</a:t>
            </a:r>
            <a:r>
              <a:rPr lang="en-US" altLang="zh-CN" sz="2000" b="1"/>
              <a:t>) </a:t>
            </a:r>
            <a:r>
              <a:rPr lang="en-US" altLang="zh-CN" sz="2000" b="1">
                <a:sym typeface="Symbol" panose="05050102010706020507" pitchFamily="18" charset="2"/>
              </a:rPr>
              <a:t> </a:t>
            </a:r>
            <a:r>
              <a:rPr lang="en-US" altLang="zh-CN" sz="2000" b="1" i="1">
                <a:sym typeface="Symbol" panose="05050102010706020507" pitchFamily="18" charset="2"/>
              </a:rPr>
              <a:t>k</a:t>
            </a:r>
            <a:r>
              <a:rPr lang="en-US" altLang="zh-CN" sz="2000" b="1">
                <a:sym typeface="Symbol" panose="05050102010706020507" pitchFamily="18" charset="2"/>
              </a:rPr>
              <a:t>.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33" name="Text Box 81"/>
          <p:cNvSpPr txBox="1"/>
          <p:nvPr/>
        </p:nvSpPr>
        <p:spPr>
          <a:xfrm>
            <a:off x="1476375" y="3429000"/>
            <a:ext cx="446405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For </a:t>
            </a:r>
            <a:r>
              <a:rPr lang="en-US" altLang="zh-CN" sz="2000" b="1" i="1"/>
              <a:t>x</a:t>
            </a:r>
            <a:r>
              <a:rPr lang="en-US" altLang="zh-CN" sz="2000" b="1"/>
              <a:t> with </a:t>
            </a:r>
            <a:r>
              <a:rPr lang="en-US" altLang="zh-CN" sz="2000" b="1" i="1"/>
              <a:t>h</a:t>
            </a:r>
            <a:r>
              <a:rPr lang="en-US" altLang="zh-CN" sz="2000" b="1"/>
              <a:t>(</a:t>
            </a:r>
            <a:r>
              <a:rPr lang="en-US" altLang="zh-CN" sz="2000" b="1" i="1"/>
              <a:t>x</a:t>
            </a:r>
            <a:r>
              <a:rPr lang="en-US" altLang="zh-CN" sz="2000" b="1"/>
              <a:t>) </a:t>
            </a:r>
            <a:r>
              <a:rPr lang="en-US" altLang="zh-CN" sz="2000" b="1">
                <a:sym typeface="Symbol" panose="05050102010706020507" pitchFamily="18" charset="2"/>
              </a:rPr>
              <a:t>= </a:t>
            </a:r>
            <a:r>
              <a:rPr lang="en-US" altLang="zh-CN" sz="2000" b="1" i="1">
                <a:sym typeface="Symbol" panose="05050102010706020507" pitchFamily="18" charset="2"/>
              </a:rPr>
              <a:t>k </a:t>
            </a:r>
            <a:r>
              <a:rPr lang="en-US" altLang="zh-CN" sz="2000" b="1">
                <a:sym typeface="Symbol" panose="05050102010706020507" pitchFamily="18" charset="2"/>
              </a:rPr>
              <a:t>+ 1, bh(</a:t>
            </a:r>
            <a:r>
              <a:rPr lang="en-US" altLang="zh-CN" sz="2000" b="1" i="1">
                <a:sym typeface="Symbol" panose="05050102010706020507" pitchFamily="18" charset="2"/>
              </a:rPr>
              <a:t>child</a:t>
            </a:r>
            <a:r>
              <a:rPr lang="en-US" altLang="zh-CN" sz="2000" b="1">
                <a:sym typeface="Symbol" panose="05050102010706020507" pitchFamily="18" charset="2"/>
              </a:rPr>
              <a:t>) =  ?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34" name="Text Box 82"/>
          <p:cNvSpPr txBox="1"/>
          <p:nvPr/>
        </p:nvSpPr>
        <p:spPr>
          <a:xfrm>
            <a:off x="5364163" y="3429000"/>
            <a:ext cx="2232025" cy="396875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bh(</a:t>
            </a:r>
            <a:r>
              <a:rPr lang="en-US" altLang="zh-CN" sz="2000" b="1" i="1"/>
              <a:t>x</a:t>
            </a:r>
            <a:r>
              <a:rPr lang="en-US" altLang="zh-CN" sz="2000" b="1"/>
              <a:t>) or bh(</a:t>
            </a:r>
            <a:r>
              <a:rPr lang="en-US" altLang="zh-CN" sz="2000" b="1" i="1"/>
              <a:t>x</a:t>
            </a:r>
            <a:r>
              <a:rPr lang="en-US" altLang="zh-CN" sz="2000" b="1"/>
              <a:t>) – 1 </a:t>
            </a:r>
            <a:endParaRPr lang="en-US" altLang="zh-CN" sz="2000" b="1"/>
          </a:p>
        </p:txBody>
      </p:sp>
      <p:sp>
        <p:nvSpPr>
          <p:cNvPr id="74835" name="Text Box 83"/>
          <p:cNvSpPr txBox="1"/>
          <p:nvPr/>
        </p:nvSpPr>
        <p:spPr>
          <a:xfrm>
            <a:off x="1476375" y="3752850"/>
            <a:ext cx="5616575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Since </a:t>
            </a:r>
            <a:r>
              <a:rPr lang="en-US" altLang="zh-CN" sz="2000" b="1" i="1"/>
              <a:t>h</a:t>
            </a:r>
            <a:r>
              <a:rPr lang="en-US" altLang="zh-CN" sz="2000" b="1">
                <a:sym typeface="Symbol" panose="05050102010706020507" pitchFamily="18" charset="2"/>
              </a:rPr>
              <a:t>(</a:t>
            </a:r>
            <a:r>
              <a:rPr lang="en-US" altLang="zh-CN" sz="2000" b="1" i="1">
                <a:sym typeface="Symbol" panose="05050102010706020507" pitchFamily="18" charset="2"/>
              </a:rPr>
              <a:t>child</a:t>
            </a:r>
            <a:r>
              <a:rPr lang="en-US" altLang="zh-CN" sz="2000" b="1">
                <a:sym typeface="Symbol" panose="05050102010706020507" pitchFamily="18" charset="2"/>
              </a:rPr>
              <a:t>)  </a:t>
            </a:r>
            <a:r>
              <a:rPr lang="en-US" altLang="zh-CN" sz="2000" b="1" i="1">
                <a:sym typeface="Symbol" panose="05050102010706020507" pitchFamily="18" charset="2"/>
              </a:rPr>
              <a:t>k</a:t>
            </a:r>
            <a:r>
              <a:rPr lang="en-US" altLang="zh-CN" sz="2000" b="1">
                <a:sym typeface="Symbol" panose="05050102010706020507" pitchFamily="18" charset="2"/>
              </a:rPr>
              <a:t>, sizeof(</a:t>
            </a:r>
            <a:r>
              <a:rPr lang="en-US" altLang="zh-CN" sz="2000" b="1" i="1">
                <a:sym typeface="Symbol" panose="05050102010706020507" pitchFamily="18" charset="2"/>
              </a:rPr>
              <a:t>child</a:t>
            </a:r>
            <a:r>
              <a:rPr lang="en-US" altLang="zh-CN" sz="2000" b="1">
                <a:sym typeface="Symbol" panose="05050102010706020507" pitchFamily="18" charset="2"/>
              </a:rPr>
              <a:t>)  2</a:t>
            </a:r>
            <a:r>
              <a:rPr lang="en-US" altLang="zh-CN" sz="2000" b="1" baseline="30000">
                <a:sym typeface="Symbol" panose="05050102010706020507" pitchFamily="18" charset="2"/>
              </a:rPr>
              <a:t>bh(</a:t>
            </a:r>
            <a:r>
              <a:rPr lang="en-US" altLang="zh-CN" sz="2000" b="1" i="1" baseline="30000">
                <a:sym typeface="Symbol" panose="05050102010706020507" pitchFamily="18" charset="2"/>
              </a:rPr>
              <a:t>child</a:t>
            </a:r>
            <a:r>
              <a:rPr lang="en-US" altLang="zh-CN" sz="2000" b="1" baseline="30000">
                <a:sym typeface="Symbol" panose="05050102010706020507" pitchFamily="18" charset="2"/>
              </a:rPr>
              <a:t>)</a:t>
            </a:r>
            <a:r>
              <a:rPr lang="en-US" altLang="zh-CN" sz="2000" b="1">
                <a:sym typeface="Symbol" panose="05050102010706020507" pitchFamily="18" charset="2"/>
              </a:rPr>
              <a:t> – 1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36" name="Text Box 84"/>
          <p:cNvSpPr txBox="1"/>
          <p:nvPr/>
        </p:nvSpPr>
        <p:spPr>
          <a:xfrm>
            <a:off x="6299200" y="3752850"/>
            <a:ext cx="187325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>
                <a:sym typeface="Symbol" panose="05050102010706020507" pitchFamily="18" charset="2"/>
              </a:rPr>
              <a:t> 2</a:t>
            </a:r>
            <a:r>
              <a:rPr lang="en-US" altLang="zh-CN" sz="2000" b="1" baseline="30000">
                <a:sym typeface="Symbol" panose="05050102010706020507" pitchFamily="18" charset="2"/>
              </a:rPr>
              <a:t>bh(</a:t>
            </a:r>
            <a:r>
              <a:rPr lang="en-US" altLang="zh-CN" sz="2000" b="1" i="1" baseline="30000">
                <a:sym typeface="Symbol" panose="05050102010706020507" pitchFamily="18" charset="2"/>
              </a:rPr>
              <a:t>x</a:t>
            </a:r>
            <a:r>
              <a:rPr lang="en-US" altLang="zh-CN" sz="2000" b="1" baseline="30000">
                <a:sym typeface="Symbol" panose="05050102010706020507" pitchFamily="18" charset="2"/>
              </a:rPr>
              <a:t>) – 1</a:t>
            </a:r>
            <a:r>
              <a:rPr lang="en-US" altLang="zh-CN" sz="2000" b="1">
                <a:sym typeface="Symbol" panose="05050102010706020507" pitchFamily="18" charset="2"/>
              </a:rPr>
              <a:t> – 1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37" name="Text Box 85"/>
          <p:cNvSpPr txBox="1"/>
          <p:nvPr/>
        </p:nvSpPr>
        <p:spPr>
          <a:xfrm>
            <a:off x="1476375" y="4076700"/>
            <a:ext cx="6911975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/>
              <a:t>Hence</a:t>
            </a:r>
            <a:r>
              <a:rPr lang="en-US" altLang="zh-CN" sz="2000" b="1">
                <a:sym typeface="Symbol" panose="05050102010706020507" pitchFamily="18" charset="2"/>
              </a:rPr>
              <a:t> </a:t>
            </a:r>
            <a:r>
              <a:rPr lang="en-US" altLang="zh-CN" sz="2000" b="1"/>
              <a:t>sizeof(</a:t>
            </a:r>
            <a:r>
              <a:rPr lang="en-US" altLang="zh-CN" sz="2000" b="1" i="1"/>
              <a:t>x</a:t>
            </a:r>
            <a:r>
              <a:rPr lang="en-US" altLang="zh-CN" sz="2000" b="1"/>
              <a:t>) = 1 + 2</a:t>
            </a:r>
            <a:r>
              <a:rPr lang="en-US" altLang="zh-CN" sz="2000" b="1">
                <a:sym typeface="Symbol" panose="05050102010706020507" pitchFamily="18" charset="2"/>
              </a:rPr>
              <a:t>sizeof(</a:t>
            </a:r>
            <a:r>
              <a:rPr lang="en-US" altLang="zh-CN" sz="2000" b="1" i="1">
                <a:sym typeface="Symbol" panose="05050102010706020507" pitchFamily="18" charset="2"/>
              </a:rPr>
              <a:t>child</a:t>
            </a:r>
            <a:r>
              <a:rPr lang="en-US" altLang="zh-CN" sz="2000" b="1">
                <a:sym typeface="Symbol" panose="05050102010706020507" pitchFamily="18" charset="2"/>
              </a:rPr>
              <a:t>)  2</a:t>
            </a:r>
            <a:r>
              <a:rPr lang="en-US" altLang="zh-CN" sz="2000" b="1" baseline="30000">
                <a:sym typeface="Symbol" panose="05050102010706020507" pitchFamily="18" charset="2"/>
              </a:rPr>
              <a:t>bh(</a:t>
            </a:r>
            <a:r>
              <a:rPr lang="en-US" altLang="zh-CN" sz="2000" b="1" i="1" baseline="30000">
                <a:sym typeface="Symbol" panose="05050102010706020507" pitchFamily="18" charset="2"/>
              </a:rPr>
              <a:t>x</a:t>
            </a:r>
            <a:r>
              <a:rPr lang="en-US" altLang="zh-CN" sz="2000" b="1" baseline="30000">
                <a:sym typeface="Symbol" panose="05050102010706020507" pitchFamily="18" charset="2"/>
              </a:rPr>
              <a:t>)</a:t>
            </a:r>
            <a:r>
              <a:rPr lang="en-US" altLang="zh-CN" sz="2000" b="1">
                <a:sym typeface="Symbol" panose="05050102010706020507" pitchFamily="18" charset="2"/>
              </a:rPr>
              <a:t> – 1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38" name="Text Box 86"/>
          <p:cNvSpPr txBox="1"/>
          <p:nvPr/>
        </p:nvSpPr>
        <p:spPr>
          <a:xfrm>
            <a:off x="6516688" y="3933825"/>
            <a:ext cx="647700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FF0000"/>
                </a:solidFill>
                <a:sym typeface="Webdings" panose="05030102010509060703" pitchFamily="18" charset="2"/>
              </a:rPr>
              <a:t></a:t>
            </a:r>
            <a:endParaRPr lang="en-US" altLang="zh-CN" b="1">
              <a:solidFill>
                <a:srgbClr val="FF0000"/>
              </a:solidFill>
              <a:sym typeface="Webdings" panose="05030102010509060703" pitchFamily="18" charset="2"/>
            </a:endParaRPr>
          </a:p>
        </p:txBody>
      </p:sp>
      <p:sp>
        <p:nvSpPr>
          <p:cNvPr id="74839" name="Text Box 87"/>
          <p:cNvSpPr txBox="1"/>
          <p:nvPr/>
        </p:nvSpPr>
        <p:spPr>
          <a:xfrm>
            <a:off x="1476375" y="4508500"/>
            <a:ext cx="3455988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 </a:t>
            </a:r>
            <a:r>
              <a:rPr lang="en-US" altLang="zh-CN" sz="2000" b="1"/>
              <a:t>bh(</a:t>
            </a:r>
            <a:r>
              <a:rPr lang="en-US" altLang="zh-CN" sz="2000" b="1" i="1"/>
              <a:t>Tree</a:t>
            </a:r>
            <a:r>
              <a:rPr lang="en-US" altLang="zh-CN" sz="2000" b="1"/>
              <a:t>) </a:t>
            </a:r>
            <a:r>
              <a:rPr lang="en-US" altLang="zh-CN" sz="2000" b="1">
                <a:sym typeface="Symbol" panose="05050102010706020507" pitchFamily="18" charset="2"/>
              </a:rPr>
              <a:t> </a:t>
            </a:r>
            <a:r>
              <a:rPr lang="en-US" altLang="zh-CN" sz="2000" b="1" i="1">
                <a:sym typeface="Symbol" panose="05050102010706020507" pitchFamily="18" charset="2"/>
              </a:rPr>
              <a:t>h</a:t>
            </a:r>
            <a:r>
              <a:rPr lang="en-US" altLang="zh-CN" sz="2000" b="1">
                <a:sym typeface="Symbol" panose="05050102010706020507" pitchFamily="18" charset="2"/>
              </a:rPr>
              <a:t>(</a:t>
            </a:r>
            <a:r>
              <a:rPr lang="en-US" altLang="zh-CN" sz="2000" b="1" i="1">
                <a:sym typeface="Symbol" panose="05050102010706020507" pitchFamily="18" charset="2"/>
              </a:rPr>
              <a:t>Tree</a:t>
            </a:r>
            <a:r>
              <a:rPr lang="en-US" altLang="zh-CN" sz="2000" b="1">
                <a:sym typeface="Symbol" panose="05050102010706020507" pitchFamily="18" charset="2"/>
              </a:rPr>
              <a:t>) / 2  ?</a:t>
            </a:r>
            <a:endParaRPr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74841" name="AutoShape 89"/>
          <p:cNvSpPr/>
          <p:nvPr/>
        </p:nvSpPr>
        <p:spPr>
          <a:xfrm>
            <a:off x="2555875" y="1196975"/>
            <a:ext cx="4752975" cy="936625"/>
          </a:xfrm>
          <a:prstGeom prst="wedgeEllipseCallout">
            <a:avLst>
              <a:gd name="adj1" fmla="val -19574"/>
              <a:gd name="adj2" fmla="val 94236"/>
            </a:avLst>
          </a:prstGeom>
          <a:gradFill rotWithShape="1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/>
              <a:t>Number of internal nodes in the subtree rooted at </a:t>
            </a:r>
            <a:r>
              <a:rPr lang="en-US" altLang="zh-CN" sz="2000" b="1" i="1"/>
              <a:t>x</a:t>
            </a:r>
            <a:endParaRPr lang="en-US" altLang="zh-CN" sz="2000" b="1"/>
          </a:p>
        </p:txBody>
      </p:sp>
      <p:sp>
        <p:nvSpPr>
          <p:cNvPr id="74840" name="AutoShape 88" descr="画布"/>
          <p:cNvSpPr>
            <a:spLocks noChangeArrowheads="1"/>
          </p:cNvSpPr>
          <p:nvPr/>
        </p:nvSpPr>
        <p:spPr bwMode="auto">
          <a:xfrm>
            <a:off x="1547813" y="4941888"/>
            <a:ext cx="5832475" cy="1081088"/>
          </a:xfrm>
          <a:prstGeom prst="plus">
            <a:avLst>
              <a:gd name="adj" fmla="val 6806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 w="25400">
            <a:solidFill>
              <a:schemeClr val="accent2"/>
            </a:solidFill>
            <a:miter lim="800000"/>
          </a:ln>
          <a:effectLst/>
        </p:spPr>
        <p:txBody>
          <a:bodyPr lIns="0" tIns="46800" rIns="0" bIns="4680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cs"/>
              </a:rPr>
              <a:t>       Discussion  2: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Please finish the proof.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4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4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2" dur="2000"/>
                                        <p:tgtEl>
                                          <p:spTgt spid="7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74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25" grpId="0"/>
      <p:bldP spid="74826" grpId="0"/>
      <p:bldP spid="74827" grpId="0"/>
      <p:bldP spid="74831" grpId="0"/>
      <p:bldP spid="74832" grpId="0"/>
      <p:bldP spid="74833" grpId="0"/>
      <p:bldP spid="74834" grpId="0" animBg="1"/>
      <p:bldP spid="74835" grpId="0"/>
      <p:bldP spid="74836" grpId="0"/>
      <p:bldP spid="74837" grpId="0"/>
      <p:bldP spid="74838" grpId="0"/>
      <p:bldP spid="74839" grpId="0"/>
      <p:bldP spid="74841" grpId="0" animBg="1"/>
      <p:bldP spid="74841" grpId="1" animBg="1"/>
      <p:bldP spid="74840" grpId="0" animBg="1"/>
      <p:bldP spid="7484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pic>
        <p:nvPicPr>
          <p:cNvPr id="1741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2133600"/>
            <a:ext cx="8839200" cy="332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Text Box 3"/>
          <p:cNvSpPr txBox="1"/>
          <p:nvPr/>
        </p:nvSpPr>
        <p:spPr>
          <a:xfrm>
            <a:off x="381000" y="304800"/>
            <a:ext cx="83058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905000" lvl="0" indent="-1905000" eaLnBrk="1" hangingPunct="1">
              <a:spcBef>
                <a:spcPct val="50000"/>
              </a:spcBef>
              <a:buNone/>
            </a:pPr>
            <a:r>
              <a:rPr lang="en-US" altLang="zh-CN" b="1">
                <a:ea typeface="MS Hei" pitchFamily="49" charset="-122"/>
              </a:rPr>
              <a:t>The</a:t>
            </a:r>
            <a:r>
              <a:rPr lang="zh-CN" altLang="en-US" b="1">
                <a:ea typeface="MS Hei" pitchFamily="49" charset="-122"/>
              </a:rPr>
              <a:t> </a:t>
            </a:r>
            <a:r>
              <a:rPr lang="en-US" altLang="zh-CN" b="1">
                <a:ea typeface="MS Hei" pitchFamily="49" charset="-122"/>
              </a:rPr>
              <a:t>rotation</a:t>
            </a:r>
            <a:r>
              <a:rPr lang="zh-CN" altLang="en-US" b="1">
                <a:ea typeface="MS Hei" pitchFamily="49" charset="-122"/>
              </a:rPr>
              <a:t> </a:t>
            </a:r>
            <a:r>
              <a:rPr lang="en-US" altLang="zh-CN" b="1">
                <a:ea typeface="MS Hei" pitchFamily="49" charset="-122"/>
              </a:rPr>
              <a:t>operations</a:t>
            </a:r>
            <a:r>
              <a:rPr lang="zh-CN" altLang="en-US" b="1">
                <a:ea typeface="MS Hei" pitchFamily="49" charset="-122"/>
              </a:rPr>
              <a:t> </a:t>
            </a:r>
            <a:r>
              <a:rPr lang="en-US" altLang="zh-CN" b="1">
                <a:ea typeface="MS Hei" pitchFamily="49" charset="-122"/>
              </a:rPr>
              <a:t>on</a:t>
            </a:r>
            <a:r>
              <a:rPr lang="zh-CN" altLang="en-US" b="1">
                <a:ea typeface="MS Hei" pitchFamily="49" charset="-122"/>
              </a:rPr>
              <a:t> </a:t>
            </a:r>
            <a:r>
              <a:rPr lang="en-US" altLang="zh-CN" b="1">
                <a:ea typeface="MS Hei" pitchFamily="49" charset="-122"/>
              </a:rPr>
              <a:t>a</a:t>
            </a:r>
            <a:r>
              <a:rPr lang="zh-CN" altLang="en-US" b="1">
                <a:ea typeface="MS Hei" pitchFamily="49" charset="-122"/>
              </a:rPr>
              <a:t> </a:t>
            </a:r>
            <a:r>
              <a:rPr lang="en-US" altLang="zh-CN" b="1">
                <a:ea typeface="MS Hei" pitchFamily="49" charset="-122"/>
              </a:rPr>
              <a:t>BST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8434" name="Text Box 4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sp>
        <p:nvSpPr>
          <p:cNvPr id="124933" name="Rectangle 5"/>
          <p:cNvSpPr/>
          <p:nvPr/>
        </p:nvSpPr>
        <p:spPr>
          <a:xfrm>
            <a:off x="533400" y="242888"/>
            <a:ext cx="15240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>
                <a:sym typeface="Wingdings" panose="05000000000000000000" pitchFamily="2" charset="2"/>
              </a:rPr>
              <a:t>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Insert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24934" name="Text Box 6"/>
          <p:cNvSpPr txBox="1"/>
          <p:nvPr/>
        </p:nvSpPr>
        <p:spPr>
          <a:xfrm>
            <a:off x="609600" y="766763"/>
            <a:ext cx="482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Sketch of the idea: Insert &amp; color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endParaRPr lang="en-US" altLang="zh-CN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258888" y="1412875"/>
            <a:ext cx="1512887" cy="1295400"/>
            <a:chOff x="2018" y="1026"/>
            <a:chExt cx="953" cy="816"/>
          </a:xfrm>
        </p:grpSpPr>
        <p:sp>
          <p:nvSpPr>
            <p:cNvPr id="18601" name="Oval 7"/>
            <p:cNvSpPr/>
            <p:nvPr/>
          </p:nvSpPr>
          <p:spPr>
            <a:xfrm>
              <a:off x="2472" y="102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2" name="Oval 8"/>
            <p:cNvSpPr/>
            <p:nvPr/>
          </p:nvSpPr>
          <p:spPr>
            <a:xfrm>
              <a:off x="2699" y="125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14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3" name="Oval 9"/>
            <p:cNvSpPr/>
            <p:nvPr/>
          </p:nvSpPr>
          <p:spPr>
            <a:xfrm>
              <a:off x="2245" y="125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2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4" name="Oval 10"/>
            <p:cNvSpPr/>
            <p:nvPr/>
          </p:nvSpPr>
          <p:spPr>
            <a:xfrm>
              <a:off x="2018" y="148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5" name="Oval 11"/>
            <p:cNvSpPr/>
            <p:nvPr/>
          </p:nvSpPr>
          <p:spPr>
            <a:xfrm>
              <a:off x="2381" y="148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6" name="Oval 12"/>
            <p:cNvSpPr/>
            <p:nvPr/>
          </p:nvSpPr>
          <p:spPr>
            <a:xfrm>
              <a:off x="2517" y="170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7" name="Oval 13"/>
            <p:cNvSpPr/>
            <p:nvPr/>
          </p:nvSpPr>
          <p:spPr>
            <a:xfrm>
              <a:off x="2835" y="148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8" name="Line 14"/>
            <p:cNvSpPr/>
            <p:nvPr/>
          </p:nvSpPr>
          <p:spPr>
            <a:xfrm flipH="1">
              <a:off x="2336" y="1162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609" name="Line 16"/>
            <p:cNvSpPr/>
            <p:nvPr/>
          </p:nvSpPr>
          <p:spPr>
            <a:xfrm>
              <a:off x="2562" y="1162"/>
              <a:ext cx="182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610" name="Line 17"/>
            <p:cNvSpPr/>
            <p:nvPr/>
          </p:nvSpPr>
          <p:spPr>
            <a:xfrm flipH="1">
              <a:off x="2109" y="1389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611" name="Line 18"/>
            <p:cNvSpPr/>
            <p:nvPr/>
          </p:nvSpPr>
          <p:spPr>
            <a:xfrm flipH="1" flipV="1">
              <a:off x="2336" y="1389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612" name="Line 19"/>
            <p:cNvSpPr/>
            <p:nvPr/>
          </p:nvSpPr>
          <p:spPr>
            <a:xfrm flipH="1" flipV="1">
              <a:off x="2472" y="1616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613" name="Line 20"/>
            <p:cNvSpPr/>
            <p:nvPr/>
          </p:nvSpPr>
          <p:spPr>
            <a:xfrm flipH="1" flipV="1">
              <a:off x="2789" y="1389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37"/>
          <p:cNvGrpSpPr/>
          <p:nvPr/>
        </p:nvGrpSpPr>
        <p:grpSpPr>
          <a:xfrm>
            <a:off x="1547813" y="2349500"/>
            <a:ext cx="360362" cy="360363"/>
            <a:chOff x="975" y="1525"/>
            <a:chExt cx="227" cy="227"/>
          </a:xfrm>
        </p:grpSpPr>
        <p:sp>
          <p:nvSpPr>
            <p:cNvPr id="18599" name="Oval 35"/>
            <p:cNvSpPr/>
            <p:nvPr/>
          </p:nvSpPr>
          <p:spPr>
            <a:xfrm>
              <a:off x="975" y="161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600" name="Line 36"/>
            <p:cNvSpPr/>
            <p:nvPr/>
          </p:nvSpPr>
          <p:spPr>
            <a:xfrm flipH="1">
              <a:off x="1066" y="1525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8"/>
          <p:cNvGrpSpPr/>
          <p:nvPr/>
        </p:nvGrpSpPr>
        <p:grpSpPr>
          <a:xfrm>
            <a:off x="1258888" y="2709863"/>
            <a:ext cx="360362" cy="360362"/>
            <a:chOff x="975" y="1525"/>
            <a:chExt cx="227" cy="227"/>
          </a:xfrm>
        </p:grpSpPr>
        <p:sp>
          <p:nvSpPr>
            <p:cNvPr id="18597" name="Oval 39"/>
            <p:cNvSpPr/>
            <p:nvPr/>
          </p:nvSpPr>
          <p:spPr>
            <a:xfrm>
              <a:off x="975" y="161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4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98" name="Line 40"/>
            <p:cNvSpPr/>
            <p:nvPr/>
          </p:nvSpPr>
          <p:spPr>
            <a:xfrm flipH="1">
              <a:off x="1066" y="1525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72"/>
          <p:cNvGrpSpPr/>
          <p:nvPr/>
        </p:nvGrpSpPr>
        <p:grpSpPr>
          <a:xfrm>
            <a:off x="1042988" y="3286125"/>
            <a:ext cx="1800225" cy="1655763"/>
            <a:chOff x="431" y="2659"/>
            <a:chExt cx="1134" cy="1043"/>
          </a:xfrm>
        </p:grpSpPr>
        <p:sp>
          <p:nvSpPr>
            <p:cNvPr id="18579" name="Oval 21"/>
            <p:cNvSpPr/>
            <p:nvPr/>
          </p:nvSpPr>
          <p:spPr>
            <a:xfrm>
              <a:off x="1066" y="265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0" name="Oval 22"/>
            <p:cNvSpPr/>
            <p:nvPr/>
          </p:nvSpPr>
          <p:spPr>
            <a:xfrm>
              <a:off x="1293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14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1" name="Oval 23"/>
            <p:cNvSpPr/>
            <p:nvPr/>
          </p:nvSpPr>
          <p:spPr>
            <a:xfrm>
              <a:off x="839" y="288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2" name="Oval 24"/>
            <p:cNvSpPr/>
            <p:nvPr/>
          </p:nvSpPr>
          <p:spPr>
            <a:xfrm>
              <a:off x="612" y="311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2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3" name="Oval 25"/>
            <p:cNvSpPr/>
            <p:nvPr/>
          </p:nvSpPr>
          <p:spPr>
            <a:xfrm>
              <a:off x="975" y="311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4" name="Oval 26"/>
            <p:cNvSpPr/>
            <p:nvPr/>
          </p:nvSpPr>
          <p:spPr>
            <a:xfrm>
              <a:off x="431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5" name="Oval 27"/>
            <p:cNvSpPr/>
            <p:nvPr/>
          </p:nvSpPr>
          <p:spPr>
            <a:xfrm>
              <a:off x="1429" y="311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86" name="Line 28"/>
            <p:cNvSpPr/>
            <p:nvPr/>
          </p:nvSpPr>
          <p:spPr>
            <a:xfrm flipH="1">
              <a:off x="930" y="2795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87" name="Line 29"/>
            <p:cNvSpPr/>
            <p:nvPr/>
          </p:nvSpPr>
          <p:spPr>
            <a:xfrm>
              <a:off x="1156" y="2795"/>
              <a:ext cx="182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88" name="Line 30"/>
            <p:cNvSpPr/>
            <p:nvPr/>
          </p:nvSpPr>
          <p:spPr>
            <a:xfrm flipH="1">
              <a:off x="703" y="3022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89" name="Line 31"/>
            <p:cNvSpPr/>
            <p:nvPr/>
          </p:nvSpPr>
          <p:spPr>
            <a:xfrm flipH="1" flipV="1">
              <a:off x="930" y="3022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90" name="Line 32"/>
            <p:cNvSpPr/>
            <p:nvPr/>
          </p:nvSpPr>
          <p:spPr>
            <a:xfrm flipV="1">
              <a:off x="521" y="3249"/>
              <a:ext cx="13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91" name="Line 33"/>
            <p:cNvSpPr/>
            <p:nvPr/>
          </p:nvSpPr>
          <p:spPr>
            <a:xfrm flipH="1" flipV="1">
              <a:off x="1383" y="3022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92" name="Oval 43"/>
            <p:cNvSpPr/>
            <p:nvPr/>
          </p:nvSpPr>
          <p:spPr>
            <a:xfrm>
              <a:off x="748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93" name="Line 44"/>
            <p:cNvSpPr/>
            <p:nvPr/>
          </p:nvSpPr>
          <p:spPr>
            <a:xfrm>
              <a:off x="703" y="3249"/>
              <a:ext cx="90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594" name="Group 45"/>
            <p:cNvGrpSpPr/>
            <p:nvPr/>
          </p:nvGrpSpPr>
          <p:grpSpPr>
            <a:xfrm>
              <a:off x="567" y="3475"/>
              <a:ext cx="227" cy="227"/>
              <a:chOff x="975" y="1525"/>
              <a:chExt cx="227" cy="227"/>
            </a:xfrm>
          </p:grpSpPr>
          <p:sp>
            <p:nvSpPr>
              <p:cNvPr id="18595" name="Oval 46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4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596" name="Line 47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" name="Group 59"/>
          <p:cNvGrpSpPr/>
          <p:nvPr/>
        </p:nvGrpSpPr>
        <p:grpSpPr>
          <a:xfrm>
            <a:off x="3419475" y="1412875"/>
            <a:ext cx="1873250" cy="935038"/>
            <a:chOff x="2154" y="935"/>
            <a:chExt cx="1180" cy="589"/>
          </a:xfrm>
        </p:grpSpPr>
        <p:grpSp>
          <p:nvGrpSpPr>
            <p:cNvPr id="18568" name="Group 57"/>
            <p:cNvGrpSpPr/>
            <p:nvPr/>
          </p:nvGrpSpPr>
          <p:grpSpPr>
            <a:xfrm>
              <a:off x="2699" y="935"/>
              <a:ext cx="635" cy="589"/>
              <a:chOff x="1791" y="3113"/>
              <a:chExt cx="635" cy="589"/>
            </a:xfrm>
          </p:grpSpPr>
          <p:sp>
            <p:nvSpPr>
              <p:cNvPr id="18570" name="Oval 48"/>
              <p:cNvSpPr/>
              <p:nvPr/>
            </p:nvSpPr>
            <p:spPr>
              <a:xfrm>
                <a:off x="2154" y="3113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71" name="Oval 49"/>
              <p:cNvSpPr/>
              <p:nvPr/>
            </p:nvSpPr>
            <p:spPr>
              <a:xfrm>
                <a:off x="2290" y="3339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72" name="Line 50"/>
              <p:cNvSpPr/>
              <p:nvPr/>
            </p:nvSpPr>
            <p:spPr>
              <a:xfrm flipH="1" flipV="1">
                <a:off x="2245" y="3249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8573" name="Group 51"/>
              <p:cNvGrpSpPr/>
              <p:nvPr/>
            </p:nvGrpSpPr>
            <p:grpSpPr>
              <a:xfrm>
                <a:off x="1973" y="3248"/>
                <a:ext cx="227" cy="227"/>
                <a:chOff x="975" y="1525"/>
                <a:chExt cx="227" cy="227"/>
              </a:xfrm>
            </p:grpSpPr>
            <p:sp>
              <p:nvSpPr>
                <p:cNvPr id="18577" name="Oval 52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578" name="Line 53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574" name="Group 54"/>
              <p:cNvGrpSpPr/>
              <p:nvPr/>
            </p:nvGrpSpPr>
            <p:grpSpPr>
              <a:xfrm>
                <a:off x="1791" y="3475"/>
                <a:ext cx="227" cy="227"/>
                <a:chOff x="975" y="1525"/>
                <a:chExt cx="227" cy="227"/>
              </a:xfrm>
            </p:grpSpPr>
            <p:sp>
              <p:nvSpPr>
                <p:cNvPr id="18575" name="Oval 55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576" name="Line 56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8569" name="Text Box 58"/>
            <p:cNvSpPr txBox="1"/>
            <p:nvPr/>
          </p:nvSpPr>
          <p:spPr>
            <a:xfrm>
              <a:off x="2154" y="935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1: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84"/>
          <p:cNvGrpSpPr/>
          <p:nvPr/>
        </p:nvGrpSpPr>
        <p:grpSpPr>
          <a:xfrm>
            <a:off x="5580063" y="1412875"/>
            <a:ext cx="1512887" cy="935038"/>
            <a:chOff x="3515" y="935"/>
            <a:chExt cx="953" cy="589"/>
          </a:xfrm>
        </p:grpSpPr>
        <p:sp>
          <p:nvSpPr>
            <p:cNvPr id="18557" name="AutoShape 60"/>
            <p:cNvSpPr/>
            <p:nvPr/>
          </p:nvSpPr>
          <p:spPr>
            <a:xfrm>
              <a:off x="3515" y="1162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grpSp>
          <p:nvGrpSpPr>
            <p:cNvPr id="18558" name="Group 63"/>
            <p:cNvGrpSpPr/>
            <p:nvPr/>
          </p:nvGrpSpPr>
          <p:grpSpPr>
            <a:xfrm>
              <a:off x="3833" y="935"/>
              <a:ext cx="635" cy="589"/>
              <a:chOff x="1791" y="3113"/>
              <a:chExt cx="635" cy="589"/>
            </a:xfrm>
          </p:grpSpPr>
          <p:sp>
            <p:nvSpPr>
              <p:cNvPr id="18559" name="Oval 64"/>
              <p:cNvSpPr/>
              <p:nvPr/>
            </p:nvSpPr>
            <p:spPr>
              <a:xfrm>
                <a:off x="2154" y="3113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60" name="Oval 65"/>
              <p:cNvSpPr/>
              <p:nvPr/>
            </p:nvSpPr>
            <p:spPr>
              <a:xfrm>
                <a:off x="2290" y="3339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61" name="Line 66"/>
              <p:cNvSpPr/>
              <p:nvPr/>
            </p:nvSpPr>
            <p:spPr>
              <a:xfrm flipH="1" flipV="1">
                <a:off x="2245" y="3249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8562" name="Group 67"/>
              <p:cNvGrpSpPr/>
              <p:nvPr/>
            </p:nvGrpSpPr>
            <p:grpSpPr>
              <a:xfrm>
                <a:off x="1973" y="3248"/>
                <a:ext cx="227" cy="227"/>
                <a:chOff x="975" y="1525"/>
                <a:chExt cx="227" cy="227"/>
              </a:xfrm>
            </p:grpSpPr>
            <p:sp>
              <p:nvSpPr>
                <p:cNvPr id="18566" name="Oval 68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567" name="Line 69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563" name="Group 70"/>
              <p:cNvGrpSpPr/>
              <p:nvPr/>
            </p:nvGrpSpPr>
            <p:grpSpPr>
              <a:xfrm>
                <a:off x="1791" y="3475"/>
                <a:ext cx="227" cy="227"/>
                <a:chOff x="975" y="1525"/>
                <a:chExt cx="227" cy="227"/>
              </a:xfrm>
            </p:grpSpPr>
            <p:sp>
              <p:nvSpPr>
                <p:cNvPr id="18564" name="Oval 71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565" name="Line 72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15" name="Group 74"/>
          <p:cNvGrpSpPr/>
          <p:nvPr/>
        </p:nvGrpSpPr>
        <p:grpSpPr>
          <a:xfrm>
            <a:off x="1258888" y="2133600"/>
            <a:ext cx="1008062" cy="935038"/>
            <a:chOff x="1791" y="3113"/>
            <a:chExt cx="635" cy="589"/>
          </a:xfrm>
        </p:grpSpPr>
        <p:sp>
          <p:nvSpPr>
            <p:cNvPr id="18548" name="Oval 75"/>
            <p:cNvSpPr/>
            <p:nvPr/>
          </p:nvSpPr>
          <p:spPr>
            <a:xfrm>
              <a:off x="2154" y="311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49" name="Oval 76"/>
            <p:cNvSpPr/>
            <p:nvPr/>
          </p:nvSpPr>
          <p:spPr>
            <a:xfrm>
              <a:off x="2290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550" name="Line 77"/>
            <p:cNvSpPr/>
            <p:nvPr/>
          </p:nvSpPr>
          <p:spPr>
            <a:xfrm flipH="1" flipV="1">
              <a:off x="2245" y="3249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551" name="Group 78"/>
            <p:cNvGrpSpPr/>
            <p:nvPr/>
          </p:nvGrpSpPr>
          <p:grpSpPr>
            <a:xfrm>
              <a:off x="1973" y="3248"/>
              <a:ext cx="227" cy="227"/>
              <a:chOff x="975" y="1525"/>
              <a:chExt cx="227" cy="227"/>
            </a:xfrm>
          </p:grpSpPr>
          <p:sp>
            <p:nvSpPr>
              <p:cNvPr id="18555" name="Oval 79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5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556" name="Line 80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552" name="Group 81"/>
            <p:cNvGrpSpPr/>
            <p:nvPr/>
          </p:nvGrpSpPr>
          <p:grpSpPr>
            <a:xfrm>
              <a:off x="1791" y="3475"/>
              <a:ext cx="227" cy="227"/>
              <a:chOff x="975" y="1525"/>
              <a:chExt cx="227" cy="227"/>
            </a:xfrm>
          </p:grpSpPr>
          <p:sp>
            <p:nvSpPr>
              <p:cNvPr id="18553" name="Oval 82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4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554" name="Line 83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8" name="Group 93"/>
          <p:cNvGrpSpPr/>
          <p:nvPr/>
        </p:nvGrpSpPr>
        <p:grpSpPr>
          <a:xfrm>
            <a:off x="3419475" y="2673350"/>
            <a:ext cx="1944688" cy="973138"/>
            <a:chOff x="2154" y="1729"/>
            <a:chExt cx="1225" cy="613"/>
          </a:xfrm>
        </p:grpSpPr>
        <p:sp>
          <p:nvSpPr>
            <p:cNvPr id="18540" name="Text Box 73"/>
            <p:cNvSpPr txBox="1"/>
            <p:nvPr/>
          </p:nvSpPr>
          <p:spPr>
            <a:xfrm>
              <a:off x="2154" y="1729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2: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8541" name="Oval 85"/>
            <p:cNvSpPr/>
            <p:nvPr/>
          </p:nvSpPr>
          <p:spPr>
            <a:xfrm>
              <a:off x="3016" y="175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42" name="Oval 86"/>
            <p:cNvSpPr/>
            <p:nvPr/>
          </p:nvSpPr>
          <p:spPr>
            <a:xfrm>
              <a:off x="3243" y="197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43" name="Oval 87"/>
            <p:cNvSpPr/>
            <p:nvPr/>
          </p:nvSpPr>
          <p:spPr>
            <a:xfrm>
              <a:off x="2789" y="1979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44" name="Oval 88"/>
            <p:cNvSpPr/>
            <p:nvPr/>
          </p:nvSpPr>
          <p:spPr>
            <a:xfrm>
              <a:off x="2925" y="220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45" name="Line 89"/>
            <p:cNvSpPr/>
            <p:nvPr/>
          </p:nvSpPr>
          <p:spPr>
            <a:xfrm flipH="1">
              <a:off x="2880" y="1888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46" name="Line 90"/>
            <p:cNvSpPr/>
            <p:nvPr/>
          </p:nvSpPr>
          <p:spPr>
            <a:xfrm>
              <a:off x="3106" y="1888"/>
              <a:ext cx="182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47" name="Line 91"/>
            <p:cNvSpPr/>
            <p:nvPr/>
          </p:nvSpPr>
          <p:spPr>
            <a:xfrm flipH="1" flipV="1">
              <a:off x="2880" y="2115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107"/>
          <p:cNvGrpSpPr/>
          <p:nvPr/>
        </p:nvGrpSpPr>
        <p:grpSpPr>
          <a:xfrm>
            <a:off x="5580063" y="2709863"/>
            <a:ext cx="1512887" cy="935037"/>
            <a:chOff x="3515" y="1752"/>
            <a:chExt cx="953" cy="589"/>
          </a:xfrm>
        </p:grpSpPr>
        <p:sp>
          <p:nvSpPr>
            <p:cNvPr id="18530" name="AutoShape 95"/>
            <p:cNvSpPr/>
            <p:nvPr/>
          </p:nvSpPr>
          <p:spPr>
            <a:xfrm>
              <a:off x="3515" y="1979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31" name="Oval 97"/>
            <p:cNvSpPr/>
            <p:nvPr/>
          </p:nvSpPr>
          <p:spPr>
            <a:xfrm>
              <a:off x="4196" y="1752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32" name="Oval 98"/>
            <p:cNvSpPr/>
            <p:nvPr/>
          </p:nvSpPr>
          <p:spPr>
            <a:xfrm>
              <a:off x="4332" y="197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33" name="Line 99"/>
            <p:cNvSpPr/>
            <p:nvPr/>
          </p:nvSpPr>
          <p:spPr>
            <a:xfrm flipH="1" flipV="1">
              <a:off x="4287" y="1888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534" name="Group 100"/>
            <p:cNvGrpSpPr/>
            <p:nvPr/>
          </p:nvGrpSpPr>
          <p:grpSpPr>
            <a:xfrm>
              <a:off x="4015" y="1887"/>
              <a:ext cx="227" cy="227"/>
              <a:chOff x="975" y="1525"/>
              <a:chExt cx="227" cy="227"/>
            </a:xfrm>
          </p:grpSpPr>
          <p:sp>
            <p:nvSpPr>
              <p:cNvPr id="18538" name="Oval 101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39" name="Line 102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535" name="Group 103"/>
            <p:cNvGrpSpPr/>
            <p:nvPr/>
          </p:nvGrpSpPr>
          <p:grpSpPr>
            <a:xfrm>
              <a:off x="3833" y="2114"/>
              <a:ext cx="227" cy="227"/>
              <a:chOff x="975" y="1525"/>
              <a:chExt cx="227" cy="227"/>
            </a:xfrm>
          </p:grpSpPr>
          <p:sp>
            <p:nvSpPr>
              <p:cNvPr id="18536" name="Oval 104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37" name="Line 105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5034" name="AutoShape 106"/>
          <p:cNvSpPr/>
          <p:nvPr/>
        </p:nvSpPr>
        <p:spPr>
          <a:xfrm rot="5400000" flipH="1">
            <a:off x="4141788" y="3355975"/>
            <a:ext cx="398462" cy="401638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1840278226" y="152418664"/>
              </a:cxn>
              <a:cxn ang="0">
                <a:pos x="130280748" y="1291064440"/>
              </a:cxn>
              <a:cxn ang="0">
                <a:pos x="1717411324" y="389590664"/>
              </a:cxn>
              <a:cxn ang="0">
                <a:pos x="2119139182" y="2147483646"/>
              </a:cxn>
              <a:cxn ang="0">
                <a:pos x="1504786006" y="2147483646"/>
              </a:cxn>
              <a:cxn ang="0">
                <a:pos x="1626962092" y="1872522095"/>
              </a:cxn>
            </a:cxnLst>
            <a:rect l="txL" t="txT" r="txR" b="txB"/>
            <a:pathLst>
              <a:path w="21600" h="21600">
                <a:moveTo>
                  <a:pt x="15549" y="17909"/>
                </a:moveTo>
                <a:cubicBezTo>
                  <a:pt x="17924" y="16323"/>
                  <a:pt x="19350" y="13655"/>
                  <a:pt x="19350" y="10800"/>
                </a:cubicBezTo>
                <a:cubicBezTo>
                  <a:pt x="19350" y="6077"/>
                  <a:pt x="15522" y="2250"/>
                  <a:pt x="10800" y="2250"/>
                </a:cubicBezTo>
                <a:cubicBezTo>
                  <a:pt x="6077" y="2250"/>
                  <a:pt x="2250" y="6077"/>
                  <a:pt x="225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407"/>
                  <a:pt x="19799" y="17776"/>
                  <a:pt x="16799" y="19780"/>
                </a:cubicBezTo>
                <a:lnTo>
                  <a:pt x="18299" y="22025"/>
                </a:lnTo>
                <a:lnTo>
                  <a:pt x="12994" y="20969"/>
                </a:lnTo>
                <a:lnTo>
                  <a:pt x="14049" y="15664"/>
                </a:lnTo>
                <a:lnTo>
                  <a:pt x="15549" y="17909"/>
                </a:lnTo>
                <a:close/>
              </a:path>
            </a:pathLst>
          </a:custGeom>
          <a:solidFill>
            <a:schemeClr val="hlink">
              <a:alpha val="100000"/>
            </a:schemeClr>
          </a:solidFill>
          <a:ln w="25400" cap="flat" cmpd="sng">
            <a:solidFill>
              <a:schemeClr val="hlink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2" name="Group 128"/>
          <p:cNvGrpSpPr/>
          <p:nvPr/>
        </p:nvGrpSpPr>
        <p:grpSpPr>
          <a:xfrm>
            <a:off x="3419475" y="4222750"/>
            <a:ext cx="1944688" cy="935038"/>
            <a:chOff x="2154" y="2705"/>
            <a:chExt cx="1225" cy="589"/>
          </a:xfrm>
        </p:grpSpPr>
        <p:sp>
          <p:nvSpPr>
            <p:cNvPr id="18520" name="Text Box 109"/>
            <p:cNvSpPr txBox="1"/>
            <p:nvPr/>
          </p:nvSpPr>
          <p:spPr>
            <a:xfrm>
              <a:off x="2154" y="2726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3: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8521" name="Oval 119"/>
            <p:cNvSpPr/>
            <p:nvPr/>
          </p:nvSpPr>
          <p:spPr>
            <a:xfrm>
              <a:off x="3107" y="2705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22" name="Oval 120"/>
            <p:cNvSpPr/>
            <p:nvPr/>
          </p:nvSpPr>
          <p:spPr>
            <a:xfrm>
              <a:off x="3243" y="293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23" name="Line 121"/>
            <p:cNvSpPr/>
            <p:nvPr/>
          </p:nvSpPr>
          <p:spPr>
            <a:xfrm flipH="1" flipV="1">
              <a:off x="3198" y="2841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524" name="Group 122"/>
            <p:cNvGrpSpPr/>
            <p:nvPr/>
          </p:nvGrpSpPr>
          <p:grpSpPr>
            <a:xfrm>
              <a:off x="2926" y="2840"/>
              <a:ext cx="227" cy="227"/>
              <a:chOff x="975" y="1525"/>
              <a:chExt cx="227" cy="227"/>
            </a:xfrm>
          </p:grpSpPr>
          <p:sp>
            <p:nvSpPr>
              <p:cNvPr id="18528" name="Oval 123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29" name="Line 124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525" name="Group 125"/>
            <p:cNvGrpSpPr/>
            <p:nvPr/>
          </p:nvGrpSpPr>
          <p:grpSpPr>
            <a:xfrm>
              <a:off x="2744" y="3067"/>
              <a:ext cx="227" cy="227"/>
              <a:chOff x="975" y="1525"/>
              <a:chExt cx="227" cy="227"/>
            </a:xfrm>
          </p:grpSpPr>
          <p:sp>
            <p:nvSpPr>
              <p:cNvPr id="18526" name="Oval 126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27" name="Line 127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5" name="Group 140"/>
          <p:cNvGrpSpPr/>
          <p:nvPr/>
        </p:nvGrpSpPr>
        <p:grpSpPr>
          <a:xfrm>
            <a:off x="5580063" y="4222750"/>
            <a:ext cx="1584325" cy="935038"/>
            <a:chOff x="3515" y="2705"/>
            <a:chExt cx="998" cy="589"/>
          </a:xfrm>
        </p:grpSpPr>
        <p:sp>
          <p:nvSpPr>
            <p:cNvPr id="18510" name="AutoShape 118"/>
            <p:cNvSpPr/>
            <p:nvPr/>
          </p:nvSpPr>
          <p:spPr>
            <a:xfrm>
              <a:off x="3515" y="2931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11" name="Oval 131"/>
            <p:cNvSpPr/>
            <p:nvPr/>
          </p:nvSpPr>
          <p:spPr>
            <a:xfrm>
              <a:off x="4241" y="2705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12" name="Oval 132"/>
            <p:cNvSpPr/>
            <p:nvPr/>
          </p:nvSpPr>
          <p:spPr>
            <a:xfrm>
              <a:off x="4377" y="293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13" name="Line 133"/>
            <p:cNvSpPr/>
            <p:nvPr/>
          </p:nvSpPr>
          <p:spPr>
            <a:xfrm flipH="1" flipV="1">
              <a:off x="4332" y="2841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514" name="Group 134"/>
            <p:cNvGrpSpPr/>
            <p:nvPr/>
          </p:nvGrpSpPr>
          <p:grpSpPr>
            <a:xfrm>
              <a:off x="4060" y="2840"/>
              <a:ext cx="227" cy="227"/>
              <a:chOff x="975" y="1525"/>
              <a:chExt cx="227" cy="227"/>
            </a:xfrm>
          </p:grpSpPr>
          <p:sp>
            <p:nvSpPr>
              <p:cNvPr id="18518" name="Oval 135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19" name="Line 136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515" name="Group 137"/>
            <p:cNvGrpSpPr/>
            <p:nvPr/>
          </p:nvGrpSpPr>
          <p:grpSpPr>
            <a:xfrm>
              <a:off x="3878" y="3067"/>
              <a:ext cx="227" cy="227"/>
              <a:chOff x="975" y="1525"/>
              <a:chExt cx="227" cy="227"/>
            </a:xfrm>
          </p:grpSpPr>
          <p:sp>
            <p:nvSpPr>
              <p:cNvPr id="18516" name="Oval 138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517" name="Line 139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5069" name="AutoShape 141"/>
          <p:cNvSpPr/>
          <p:nvPr/>
        </p:nvSpPr>
        <p:spPr>
          <a:xfrm rot="-5400000">
            <a:off x="6604000" y="4779963"/>
            <a:ext cx="398463" cy="431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1840298340" y="203620927"/>
              </a:cxn>
              <a:cxn ang="0">
                <a:pos x="130281739" y="1724802251"/>
              </a:cxn>
              <a:cxn ang="0">
                <a:pos x="1717424379" y="520476547"/>
              </a:cxn>
              <a:cxn ang="0">
                <a:pos x="2119161398" y="2147483646"/>
              </a:cxn>
              <a:cxn ang="0">
                <a:pos x="1504803433" y="2147483646"/>
              </a:cxn>
              <a:cxn ang="0">
                <a:pos x="1626980804" y="2147483646"/>
              </a:cxn>
            </a:cxnLst>
            <a:rect l="txL" t="txT" r="txR" b="txB"/>
            <a:pathLst>
              <a:path w="21600" h="21600">
                <a:moveTo>
                  <a:pt x="15549" y="17909"/>
                </a:moveTo>
                <a:cubicBezTo>
                  <a:pt x="17924" y="16323"/>
                  <a:pt x="19350" y="13655"/>
                  <a:pt x="19350" y="10800"/>
                </a:cubicBezTo>
                <a:cubicBezTo>
                  <a:pt x="19350" y="6077"/>
                  <a:pt x="15522" y="2250"/>
                  <a:pt x="10800" y="2250"/>
                </a:cubicBezTo>
                <a:cubicBezTo>
                  <a:pt x="6077" y="2250"/>
                  <a:pt x="2250" y="6077"/>
                  <a:pt x="225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407"/>
                  <a:pt x="19799" y="17776"/>
                  <a:pt x="16799" y="19780"/>
                </a:cubicBezTo>
                <a:lnTo>
                  <a:pt x="18299" y="22025"/>
                </a:lnTo>
                <a:lnTo>
                  <a:pt x="12994" y="20969"/>
                </a:lnTo>
                <a:lnTo>
                  <a:pt x="14049" y="15664"/>
                </a:lnTo>
                <a:lnTo>
                  <a:pt x="15549" y="17909"/>
                </a:lnTo>
                <a:close/>
              </a:path>
            </a:pathLst>
          </a:custGeom>
          <a:solidFill>
            <a:schemeClr val="hlink">
              <a:alpha val="100000"/>
            </a:schemeClr>
          </a:solidFill>
          <a:ln w="25400" cap="flat" cmpd="sng">
            <a:solidFill>
              <a:schemeClr val="hlink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" name="Group 153"/>
          <p:cNvGrpSpPr/>
          <p:nvPr/>
        </p:nvGrpSpPr>
        <p:grpSpPr>
          <a:xfrm>
            <a:off x="5580063" y="5445125"/>
            <a:ext cx="1871662" cy="936625"/>
            <a:chOff x="3515" y="3385"/>
            <a:chExt cx="1179" cy="590"/>
          </a:xfrm>
        </p:grpSpPr>
        <p:sp>
          <p:nvSpPr>
            <p:cNvPr id="18502" name="AutoShape 130"/>
            <p:cNvSpPr/>
            <p:nvPr/>
          </p:nvSpPr>
          <p:spPr>
            <a:xfrm>
              <a:off x="3515" y="3521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03" name="Oval 142"/>
            <p:cNvSpPr/>
            <p:nvPr/>
          </p:nvSpPr>
          <p:spPr>
            <a:xfrm>
              <a:off x="4195" y="338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04" name="Oval 143"/>
            <p:cNvSpPr/>
            <p:nvPr/>
          </p:nvSpPr>
          <p:spPr>
            <a:xfrm>
              <a:off x="4422" y="361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05" name="Oval 144"/>
            <p:cNvSpPr/>
            <p:nvPr/>
          </p:nvSpPr>
          <p:spPr>
            <a:xfrm>
              <a:off x="3968" y="361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06" name="Oval 147"/>
            <p:cNvSpPr/>
            <p:nvPr/>
          </p:nvSpPr>
          <p:spPr>
            <a:xfrm>
              <a:off x="4558" y="3839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8507" name="Line 148"/>
            <p:cNvSpPr/>
            <p:nvPr/>
          </p:nvSpPr>
          <p:spPr>
            <a:xfrm flipH="1">
              <a:off x="4059" y="3521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08" name="Line 149"/>
            <p:cNvSpPr/>
            <p:nvPr/>
          </p:nvSpPr>
          <p:spPr>
            <a:xfrm>
              <a:off x="4285" y="3521"/>
              <a:ext cx="182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509" name="Line 152"/>
            <p:cNvSpPr/>
            <p:nvPr/>
          </p:nvSpPr>
          <p:spPr>
            <a:xfrm flipH="1" flipV="1">
              <a:off x="4512" y="3748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" name="Group 178"/>
          <p:cNvGrpSpPr/>
          <p:nvPr/>
        </p:nvGrpSpPr>
        <p:grpSpPr>
          <a:xfrm>
            <a:off x="1258888" y="5014913"/>
            <a:ext cx="1657350" cy="1295400"/>
            <a:chOff x="1655" y="3249"/>
            <a:chExt cx="1044" cy="816"/>
          </a:xfrm>
        </p:grpSpPr>
        <p:sp>
          <p:nvSpPr>
            <p:cNvPr id="18484" name="Oval 154"/>
            <p:cNvSpPr/>
            <p:nvPr/>
          </p:nvSpPr>
          <p:spPr>
            <a:xfrm>
              <a:off x="2063" y="324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85" name="Oval 157"/>
            <p:cNvSpPr/>
            <p:nvPr/>
          </p:nvSpPr>
          <p:spPr>
            <a:xfrm>
              <a:off x="2290" y="347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86" name="Oval 159"/>
            <p:cNvSpPr/>
            <p:nvPr/>
          </p:nvSpPr>
          <p:spPr>
            <a:xfrm>
              <a:off x="2154" y="370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87" name="Oval 160"/>
            <p:cNvSpPr/>
            <p:nvPr/>
          </p:nvSpPr>
          <p:spPr>
            <a:xfrm>
              <a:off x="2563" y="3929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88" name="Line 161"/>
            <p:cNvSpPr/>
            <p:nvPr/>
          </p:nvSpPr>
          <p:spPr>
            <a:xfrm flipH="1">
              <a:off x="1927" y="3385"/>
              <a:ext cx="181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9" name="Line 162"/>
            <p:cNvSpPr/>
            <p:nvPr/>
          </p:nvSpPr>
          <p:spPr>
            <a:xfrm>
              <a:off x="2153" y="3385"/>
              <a:ext cx="182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0" name="Line 165"/>
            <p:cNvSpPr/>
            <p:nvPr/>
          </p:nvSpPr>
          <p:spPr>
            <a:xfrm flipV="1">
              <a:off x="2245" y="3612"/>
              <a:ext cx="13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1" name="Line 166"/>
            <p:cNvSpPr/>
            <p:nvPr/>
          </p:nvSpPr>
          <p:spPr>
            <a:xfrm flipH="1" flipV="1">
              <a:off x="2517" y="3838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2" name="Oval 167"/>
            <p:cNvSpPr/>
            <p:nvPr/>
          </p:nvSpPr>
          <p:spPr>
            <a:xfrm>
              <a:off x="2426" y="370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14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93" name="Line 168"/>
            <p:cNvSpPr/>
            <p:nvPr/>
          </p:nvSpPr>
          <p:spPr>
            <a:xfrm>
              <a:off x="2381" y="3612"/>
              <a:ext cx="90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94" name="Group 169"/>
            <p:cNvGrpSpPr/>
            <p:nvPr/>
          </p:nvGrpSpPr>
          <p:grpSpPr>
            <a:xfrm>
              <a:off x="1746" y="3838"/>
              <a:ext cx="227" cy="227"/>
              <a:chOff x="975" y="1525"/>
              <a:chExt cx="227" cy="227"/>
            </a:xfrm>
          </p:grpSpPr>
          <p:sp>
            <p:nvSpPr>
              <p:cNvPr id="18500" name="Oval 170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4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501" name="Line 171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95" name="Oval 173"/>
            <p:cNvSpPr/>
            <p:nvPr/>
          </p:nvSpPr>
          <p:spPr>
            <a:xfrm>
              <a:off x="1837" y="347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2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96" name="Oval 174"/>
            <p:cNvSpPr/>
            <p:nvPr/>
          </p:nvSpPr>
          <p:spPr>
            <a:xfrm>
              <a:off x="1655" y="370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97" name="Line 175"/>
            <p:cNvSpPr/>
            <p:nvPr/>
          </p:nvSpPr>
          <p:spPr>
            <a:xfrm flipV="1">
              <a:off x="1746" y="3612"/>
              <a:ext cx="13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8" name="Oval 176"/>
            <p:cNvSpPr/>
            <p:nvPr/>
          </p:nvSpPr>
          <p:spPr>
            <a:xfrm>
              <a:off x="1928" y="370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18499" name="Line 177"/>
            <p:cNvSpPr/>
            <p:nvPr/>
          </p:nvSpPr>
          <p:spPr>
            <a:xfrm>
              <a:off x="1883" y="3612"/>
              <a:ext cx="90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" name="Group 214"/>
          <p:cNvGrpSpPr/>
          <p:nvPr/>
        </p:nvGrpSpPr>
        <p:grpSpPr>
          <a:xfrm>
            <a:off x="7164388" y="765175"/>
            <a:ext cx="1728787" cy="4464050"/>
            <a:chOff x="4513" y="527"/>
            <a:chExt cx="1089" cy="2812"/>
          </a:xfrm>
        </p:grpSpPr>
        <p:grpSp>
          <p:nvGrpSpPr>
            <p:cNvPr id="18455" name="Group 180"/>
            <p:cNvGrpSpPr/>
            <p:nvPr/>
          </p:nvGrpSpPr>
          <p:grpSpPr>
            <a:xfrm flipH="1">
              <a:off x="4830" y="935"/>
              <a:ext cx="635" cy="589"/>
              <a:chOff x="1791" y="3113"/>
              <a:chExt cx="635" cy="589"/>
            </a:xfrm>
          </p:grpSpPr>
          <p:sp>
            <p:nvSpPr>
              <p:cNvPr id="18475" name="Oval 181"/>
              <p:cNvSpPr/>
              <p:nvPr/>
            </p:nvSpPr>
            <p:spPr>
              <a:xfrm>
                <a:off x="2154" y="3113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76" name="Oval 182"/>
              <p:cNvSpPr/>
              <p:nvPr/>
            </p:nvSpPr>
            <p:spPr>
              <a:xfrm>
                <a:off x="2290" y="3339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77" name="Line 183"/>
              <p:cNvSpPr/>
              <p:nvPr/>
            </p:nvSpPr>
            <p:spPr>
              <a:xfrm flipH="1" flipV="1">
                <a:off x="2245" y="3249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8478" name="Group 184"/>
              <p:cNvGrpSpPr/>
              <p:nvPr/>
            </p:nvGrpSpPr>
            <p:grpSpPr>
              <a:xfrm>
                <a:off x="1973" y="3248"/>
                <a:ext cx="227" cy="227"/>
                <a:chOff x="975" y="1525"/>
                <a:chExt cx="227" cy="227"/>
              </a:xfrm>
            </p:grpSpPr>
            <p:sp>
              <p:nvSpPr>
                <p:cNvPr id="18482" name="Oval 185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483" name="Line 186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479" name="Group 187"/>
              <p:cNvGrpSpPr/>
              <p:nvPr/>
            </p:nvGrpSpPr>
            <p:grpSpPr>
              <a:xfrm>
                <a:off x="1791" y="3475"/>
                <a:ext cx="227" cy="227"/>
                <a:chOff x="975" y="1525"/>
                <a:chExt cx="227" cy="227"/>
              </a:xfrm>
            </p:grpSpPr>
            <p:sp>
              <p:nvSpPr>
                <p:cNvPr id="18480" name="Oval 188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481" name="Line 189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8456" name="Group 200"/>
            <p:cNvGrpSpPr/>
            <p:nvPr/>
          </p:nvGrpSpPr>
          <p:grpSpPr>
            <a:xfrm flipH="1">
              <a:off x="4830" y="1752"/>
              <a:ext cx="590" cy="590"/>
              <a:chOff x="2925" y="3339"/>
              <a:chExt cx="590" cy="590"/>
            </a:xfrm>
          </p:grpSpPr>
          <p:sp>
            <p:nvSpPr>
              <p:cNvPr id="18468" name="Oval 193"/>
              <p:cNvSpPr/>
              <p:nvPr/>
            </p:nvSpPr>
            <p:spPr>
              <a:xfrm>
                <a:off x="3152" y="3339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69" name="Oval 194"/>
              <p:cNvSpPr/>
              <p:nvPr/>
            </p:nvSpPr>
            <p:spPr>
              <a:xfrm>
                <a:off x="3379" y="356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70" name="Oval 195"/>
              <p:cNvSpPr/>
              <p:nvPr/>
            </p:nvSpPr>
            <p:spPr>
              <a:xfrm>
                <a:off x="2925" y="356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71" name="Oval 196"/>
              <p:cNvSpPr/>
              <p:nvPr/>
            </p:nvSpPr>
            <p:spPr>
              <a:xfrm>
                <a:off x="3061" y="3793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72" name="Line 197"/>
              <p:cNvSpPr/>
              <p:nvPr/>
            </p:nvSpPr>
            <p:spPr>
              <a:xfrm flipH="1">
                <a:off x="3016" y="3475"/>
                <a:ext cx="181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3" name="Line 198"/>
              <p:cNvSpPr/>
              <p:nvPr/>
            </p:nvSpPr>
            <p:spPr>
              <a:xfrm>
                <a:off x="3242" y="3475"/>
                <a:ext cx="182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4" name="Line 199"/>
              <p:cNvSpPr/>
              <p:nvPr/>
            </p:nvSpPr>
            <p:spPr>
              <a:xfrm flipH="1" flipV="1">
                <a:off x="3016" y="3702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457" name="Group 212"/>
            <p:cNvGrpSpPr/>
            <p:nvPr/>
          </p:nvGrpSpPr>
          <p:grpSpPr>
            <a:xfrm flipH="1">
              <a:off x="4830" y="2750"/>
              <a:ext cx="635" cy="589"/>
              <a:chOff x="2744" y="3385"/>
              <a:chExt cx="635" cy="589"/>
            </a:xfrm>
          </p:grpSpPr>
          <p:sp>
            <p:nvSpPr>
              <p:cNvPr id="18459" name="Oval 203"/>
              <p:cNvSpPr/>
              <p:nvPr/>
            </p:nvSpPr>
            <p:spPr>
              <a:xfrm>
                <a:off x="3107" y="3385"/>
                <a:ext cx="136" cy="136"/>
              </a:xfrm>
              <a:prstGeom prst="ellipse">
                <a:avLst/>
              </a:prstGeom>
              <a:solidFill>
                <a:srgbClr val="000000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60" name="Oval 204"/>
              <p:cNvSpPr/>
              <p:nvPr/>
            </p:nvSpPr>
            <p:spPr>
              <a:xfrm>
                <a:off x="3243" y="3611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8461" name="Line 205"/>
              <p:cNvSpPr/>
              <p:nvPr/>
            </p:nvSpPr>
            <p:spPr>
              <a:xfrm flipH="1" flipV="1">
                <a:off x="3198" y="3521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8462" name="Group 206"/>
              <p:cNvGrpSpPr/>
              <p:nvPr/>
            </p:nvGrpSpPr>
            <p:grpSpPr>
              <a:xfrm>
                <a:off x="2926" y="3520"/>
                <a:ext cx="227" cy="227"/>
                <a:chOff x="975" y="1525"/>
                <a:chExt cx="227" cy="227"/>
              </a:xfrm>
            </p:grpSpPr>
            <p:sp>
              <p:nvSpPr>
                <p:cNvPr id="18466" name="Oval 207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467" name="Line 208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463" name="Group 209"/>
              <p:cNvGrpSpPr/>
              <p:nvPr/>
            </p:nvGrpSpPr>
            <p:grpSpPr>
              <a:xfrm>
                <a:off x="2744" y="3747"/>
                <a:ext cx="227" cy="227"/>
                <a:chOff x="975" y="1525"/>
                <a:chExt cx="227" cy="227"/>
              </a:xfrm>
            </p:grpSpPr>
            <p:sp>
              <p:nvSpPr>
                <p:cNvPr id="18464" name="Oval 210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rgbClr val="FF0000"/>
                </a:solidFill>
                <a:ln w="254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/>
                </a:p>
              </p:txBody>
            </p:sp>
            <p:sp>
              <p:nvSpPr>
                <p:cNvPr id="18465" name="Line 211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8458" name="Text Box 213"/>
            <p:cNvSpPr txBox="1"/>
            <p:nvPr/>
          </p:nvSpPr>
          <p:spPr>
            <a:xfrm>
              <a:off x="4513" y="527"/>
              <a:ext cx="1089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/>
                <a:t>Symmetric</a:t>
              </a:r>
              <a:endParaRPr lang="en-US" altLang="zh-CN" sz="2400" b="1"/>
            </a:p>
          </p:txBody>
        </p:sp>
      </p:grpSp>
      <p:sp>
        <p:nvSpPr>
          <p:cNvPr id="125143" name="Rectangle 215"/>
          <p:cNvSpPr/>
          <p:nvPr/>
        </p:nvSpPr>
        <p:spPr>
          <a:xfrm>
            <a:off x="3132138" y="6021388"/>
            <a:ext cx="302418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/>
              <a:t>T = O</a:t>
            </a:r>
            <a:r>
              <a:rPr lang="en-US" altLang="zh-CN" sz="2400" b="1"/>
              <a:t>( </a:t>
            </a:r>
            <a:r>
              <a:rPr lang="en-US" altLang="zh-CN" sz="2400" b="1" i="1"/>
              <a:t>h</a:t>
            </a:r>
            <a:r>
              <a:rPr lang="en-US" altLang="zh-CN" sz="2400" b="1"/>
              <a:t> ) = </a:t>
            </a:r>
            <a:r>
              <a:rPr lang="en-US" altLang="zh-CN" sz="2400" b="1" i="1"/>
              <a:t>O</a:t>
            </a:r>
            <a:r>
              <a:rPr lang="en-US" altLang="zh-CN" sz="2400" b="1"/>
              <a:t>( ln</a:t>
            </a:r>
            <a:r>
              <a:rPr lang="en-US" altLang="zh-CN" sz="2400" b="1" i="1"/>
              <a:t>N</a:t>
            </a:r>
            <a:r>
              <a:rPr lang="en-US" altLang="zh-CN" sz="2400" b="1"/>
              <a:t> ) </a:t>
            </a:r>
            <a:endParaRPr lang="en-US" altLang="zh-CN" sz="2400" b="1"/>
          </a:p>
        </p:txBody>
      </p:sp>
      <p:sp>
        <p:nvSpPr>
          <p:cNvPr id="125145" name="Text Box 217"/>
          <p:cNvSpPr txBox="1"/>
          <p:nvPr/>
        </p:nvSpPr>
        <p:spPr>
          <a:xfrm>
            <a:off x="1908175" y="260350"/>
            <a:ext cx="4176713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— can be done </a:t>
            </a:r>
            <a:r>
              <a:rPr lang="en-US" altLang="zh-CN" sz="2400" b="1" i="1">
                <a:solidFill>
                  <a:schemeClr val="hlink"/>
                </a:solidFill>
              </a:rPr>
              <a:t>iteratively</a:t>
            </a:r>
            <a:endParaRPr lang="en-US" altLang="zh-CN" sz="2400" b="1" i="1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50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5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/>
      <p:bldP spid="124934" grpId="0"/>
      <p:bldP spid="125143" grpId="0"/>
      <p:bldP spid="1251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9458" name="Text Box 4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sp>
        <p:nvSpPr>
          <p:cNvPr id="125957" name="Rectangle 5"/>
          <p:cNvSpPr/>
          <p:nvPr/>
        </p:nvSpPr>
        <p:spPr>
          <a:xfrm>
            <a:off x="381000" y="242888"/>
            <a:ext cx="15240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ctr" hangingPunct="1">
              <a:spcBef>
                <a:spcPct val="0"/>
              </a:spcBef>
              <a:spcAft>
                <a:spcPct val="20000"/>
              </a:spcAft>
              <a:buNone/>
            </a:pPr>
            <a:r>
              <a:rPr lang="en-US" altLang="zh-CN" sz="2800" b="1">
                <a:sym typeface="Wingdings" panose="05000000000000000000" pitchFamily="2" charset="2"/>
              </a:rPr>
              <a:t>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Delete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533400" y="762000"/>
            <a:ext cx="8001000" cy="2438400"/>
            <a:chOff x="336" y="480"/>
            <a:chExt cx="5040" cy="1536"/>
          </a:xfrm>
        </p:grpSpPr>
        <p:sp>
          <p:nvSpPr>
            <p:cNvPr id="19533" name="Text Box 6"/>
            <p:cNvSpPr txBox="1"/>
            <p:nvPr/>
          </p:nvSpPr>
          <p:spPr>
            <a:xfrm>
              <a:off x="336" y="480"/>
              <a:ext cx="5040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 </a:t>
              </a:r>
              <a:r>
                <a:rPr lang="en-US" altLang="zh-CN" sz="2000" b="1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Delete a leaf node :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 Reset its parent link to NIL.</a:t>
              </a:r>
              <a:endParaRPr lang="en-US" altLang="zh-CN" sz="20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34" name="Text Box 7"/>
            <p:cNvSpPr txBox="1"/>
            <p:nvPr/>
          </p:nvSpPr>
          <p:spPr>
            <a:xfrm>
              <a:off x="336" y="768"/>
              <a:ext cx="5040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 </a:t>
              </a:r>
              <a:r>
                <a:rPr lang="en-US" altLang="zh-CN" sz="2000" b="1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Delete a degree 1 node :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 Replace the node by its single child.</a:t>
              </a:r>
              <a:endParaRPr lang="en-US" altLang="zh-CN" sz="20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35" name="Text Box 8"/>
            <p:cNvSpPr txBox="1"/>
            <p:nvPr/>
          </p:nvSpPr>
          <p:spPr>
            <a:xfrm>
              <a:off x="336" y="1056"/>
              <a:ext cx="2448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 </a:t>
              </a:r>
              <a:r>
                <a:rPr lang="en-US" altLang="zh-CN" sz="2000" b="1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Delete a degree 2 node :</a:t>
              </a:r>
              <a:endParaRPr lang="en-US" altLang="zh-CN" sz="20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36" name="Text Box 9"/>
            <p:cNvSpPr txBox="1"/>
            <p:nvPr/>
          </p:nvSpPr>
          <p:spPr>
            <a:xfrm>
              <a:off x="528" y="1296"/>
              <a:ext cx="4704" cy="48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85775" lvl="0" indent="-485775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Wingdings" panose="05000000000000000000" pitchFamily="2" charset="2"/>
                </a:rPr>
                <a:t>  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Replace the node by the </a:t>
              </a:r>
              <a:r>
                <a:rPr lang="en-US" altLang="zh-CN" sz="2000" b="1">
                  <a:solidFill>
                    <a:srgbClr val="FF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largest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one in its </a:t>
              </a:r>
              <a:r>
                <a:rPr lang="en-US" altLang="zh-CN" sz="2000" b="1">
                  <a:solidFill>
                    <a:srgbClr val="FF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left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subtree </a:t>
              </a:r>
              <a:r>
                <a:rPr lang="en-US" altLang="zh-CN" sz="2000" b="1">
                  <a:solidFill>
                    <a:schemeClr val="hlink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or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the </a:t>
              </a:r>
              <a:r>
                <a:rPr lang="en-US" altLang="zh-CN" sz="2000" b="1">
                  <a:solidFill>
                    <a:srgbClr val="FF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smallest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one in its </a:t>
              </a:r>
              <a:r>
                <a:rPr lang="en-US" altLang="zh-CN" sz="2000" b="1">
                  <a:solidFill>
                    <a:srgbClr val="FF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right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 subtree.</a:t>
              </a:r>
              <a:endParaRPr lang="en-US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9537" name="Text Box 10"/>
            <p:cNvSpPr txBox="1"/>
            <p:nvPr/>
          </p:nvSpPr>
          <p:spPr>
            <a:xfrm>
              <a:off x="528" y="1728"/>
              <a:ext cx="470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85775" lvl="0" indent="-485775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Wingdings" panose="05000000000000000000" pitchFamily="2" charset="2"/>
                </a:rPr>
                <a:t>  </a:t>
              </a:r>
              <a:r>
                <a:rPr lang="en-US" altLang="zh-CN" sz="2000" b="1">
                  <a:latin typeface="Arial" panose="020B0604020202020204" pitchFamily="34" charset="0"/>
                  <a:sym typeface="Wingdings" panose="05000000000000000000" pitchFamily="2" charset="2"/>
                </a:rPr>
                <a:t>Delete the replacing node from the subtree.</a:t>
              </a:r>
              <a:endParaRPr lang="en-US" altLang="zh-CN" sz="2400" b="1">
                <a:latin typeface="Arial" panose="020B0604020202020204" pitchFamily="34" charset="0"/>
              </a:endParaRPr>
            </a:p>
          </p:txBody>
        </p:sp>
      </p:grpSp>
      <p:sp>
        <p:nvSpPr>
          <p:cNvPr id="125964" name="AutoShape 12"/>
          <p:cNvSpPr/>
          <p:nvPr/>
        </p:nvSpPr>
        <p:spPr>
          <a:xfrm>
            <a:off x="5076825" y="1700213"/>
            <a:ext cx="3313113" cy="719137"/>
          </a:xfrm>
          <a:prstGeom prst="wedgeEllipseCallout">
            <a:avLst>
              <a:gd name="adj1" fmla="val -91880"/>
              <a:gd name="adj2" fmla="val -137417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Adjust only if the node</a:t>
            </a:r>
            <a:endParaRPr lang="en-US" altLang="zh-CN" sz="2000" b="1">
              <a:sym typeface="Wingdings" panose="05000000000000000000" pitchFamily="2" charset="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is black.</a:t>
            </a:r>
            <a:endParaRPr lang="en-US" altLang="zh-CN" sz="2400" b="1"/>
          </a:p>
        </p:txBody>
      </p:sp>
      <p:sp>
        <p:nvSpPr>
          <p:cNvPr id="125965" name="AutoShape 13"/>
          <p:cNvSpPr/>
          <p:nvPr/>
        </p:nvSpPr>
        <p:spPr>
          <a:xfrm>
            <a:off x="6732588" y="2565400"/>
            <a:ext cx="2195512" cy="719138"/>
          </a:xfrm>
          <a:prstGeom prst="wedgeEllipseCallout">
            <a:avLst>
              <a:gd name="adj1" fmla="val -95338"/>
              <a:gd name="adj2" fmla="val -72296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Keep the color</a:t>
            </a:r>
            <a:endParaRPr lang="en-US" altLang="zh-CN" sz="2400" b="1"/>
          </a:p>
        </p:txBody>
      </p:sp>
      <p:sp>
        <p:nvSpPr>
          <p:cNvPr id="125966" name="Text Box 14"/>
          <p:cNvSpPr txBox="1"/>
          <p:nvPr/>
        </p:nvSpPr>
        <p:spPr>
          <a:xfrm>
            <a:off x="755650" y="3357563"/>
            <a:ext cx="7345363" cy="39687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Must </a:t>
            </a:r>
            <a:r>
              <a:rPr lang="en-US" altLang="zh-CN" sz="2000" b="1" i="1">
                <a:latin typeface="Arial" panose="020B0604020202020204" pitchFamily="34" charset="0"/>
              </a:rPr>
              <a:t>add 1 black</a:t>
            </a:r>
            <a:r>
              <a:rPr lang="en-US" altLang="zh-CN" sz="2000" b="1">
                <a:latin typeface="Arial" panose="020B0604020202020204" pitchFamily="34" charset="0"/>
              </a:rPr>
              <a:t> to the path of the replacing node.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grpSp>
        <p:nvGrpSpPr>
          <p:cNvPr id="3" name="Group 27"/>
          <p:cNvGrpSpPr/>
          <p:nvPr/>
        </p:nvGrpSpPr>
        <p:grpSpPr>
          <a:xfrm>
            <a:off x="755650" y="3860800"/>
            <a:ext cx="1873250" cy="574675"/>
            <a:chOff x="476" y="2341"/>
            <a:chExt cx="1180" cy="362"/>
          </a:xfrm>
        </p:grpSpPr>
        <p:sp>
          <p:nvSpPr>
            <p:cNvPr id="19526" name="Oval 17"/>
            <p:cNvSpPr/>
            <p:nvPr/>
          </p:nvSpPr>
          <p:spPr>
            <a:xfrm>
              <a:off x="1384" y="234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527" name="Oval 18"/>
            <p:cNvSpPr/>
            <p:nvPr/>
          </p:nvSpPr>
          <p:spPr>
            <a:xfrm>
              <a:off x="1520" y="256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528" name="Line 19"/>
            <p:cNvSpPr/>
            <p:nvPr/>
          </p:nvSpPr>
          <p:spPr>
            <a:xfrm flipH="1" flipV="1">
              <a:off x="1475" y="247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529" name="Group 20"/>
            <p:cNvGrpSpPr/>
            <p:nvPr/>
          </p:nvGrpSpPr>
          <p:grpSpPr>
            <a:xfrm>
              <a:off x="1203" y="2476"/>
              <a:ext cx="227" cy="227"/>
              <a:chOff x="975" y="1525"/>
              <a:chExt cx="227" cy="227"/>
            </a:xfrm>
          </p:grpSpPr>
          <p:sp>
            <p:nvSpPr>
              <p:cNvPr id="19531" name="Oval 21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532" name="Line 22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530" name="Text Box 26"/>
            <p:cNvSpPr txBox="1"/>
            <p:nvPr/>
          </p:nvSpPr>
          <p:spPr>
            <a:xfrm>
              <a:off x="476" y="2341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1: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2"/>
          <p:cNvGrpSpPr/>
          <p:nvPr/>
        </p:nvGrpSpPr>
        <p:grpSpPr>
          <a:xfrm>
            <a:off x="2987675" y="3860800"/>
            <a:ext cx="1370013" cy="758825"/>
            <a:chOff x="1927" y="2341"/>
            <a:chExt cx="863" cy="478"/>
          </a:xfrm>
        </p:grpSpPr>
        <p:sp>
          <p:nvSpPr>
            <p:cNvPr id="19518" name="AutoShape 29"/>
            <p:cNvSpPr/>
            <p:nvPr/>
          </p:nvSpPr>
          <p:spPr>
            <a:xfrm>
              <a:off x="1927" y="252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519" name="Oval 31"/>
            <p:cNvSpPr/>
            <p:nvPr/>
          </p:nvSpPr>
          <p:spPr>
            <a:xfrm>
              <a:off x="2518" y="2341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520" name="Oval 32"/>
            <p:cNvSpPr/>
            <p:nvPr/>
          </p:nvSpPr>
          <p:spPr>
            <a:xfrm>
              <a:off x="2654" y="256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521" name="Line 33"/>
            <p:cNvSpPr/>
            <p:nvPr/>
          </p:nvSpPr>
          <p:spPr>
            <a:xfrm flipH="1" flipV="1">
              <a:off x="2609" y="247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522" name="Group 34"/>
            <p:cNvGrpSpPr/>
            <p:nvPr/>
          </p:nvGrpSpPr>
          <p:grpSpPr>
            <a:xfrm>
              <a:off x="2337" y="2476"/>
              <a:ext cx="227" cy="227"/>
              <a:chOff x="975" y="1525"/>
              <a:chExt cx="227" cy="227"/>
            </a:xfrm>
          </p:grpSpPr>
          <p:sp>
            <p:nvSpPr>
              <p:cNvPr id="19524" name="Oval 35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525" name="Line 36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523" name="AutoShape 41"/>
            <p:cNvSpPr/>
            <p:nvPr/>
          </p:nvSpPr>
          <p:spPr>
            <a:xfrm rot="5400000" flipH="1">
              <a:off x="2473" y="2658"/>
              <a:ext cx="160" cy="162"/>
            </a:xfrm>
            <a:custGeom>
              <a:avLst/>
              <a:gdLst>
                <a:gd name="txL" fmla="*/ 3105 w 21600"/>
                <a:gd name="txT" fmla="*/ 3200 h 21600"/>
                <a:gd name="txR" fmla="*/ 18495 w 21600"/>
                <a:gd name="txB" fmla="*/ 184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5549" y="17909"/>
                  </a:moveTo>
                  <a:cubicBezTo>
                    <a:pt x="17924" y="16323"/>
                    <a:pt x="19350" y="13655"/>
                    <a:pt x="19350" y="10800"/>
                  </a:cubicBezTo>
                  <a:cubicBezTo>
                    <a:pt x="19350" y="6077"/>
                    <a:pt x="15522" y="2250"/>
                    <a:pt x="10800" y="2250"/>
                  </a:cubicBezTo>
                  <a:cubicBezTo>
                    <a:pt x="6077" y="2250"/>
                    <a:pt x="2250" y="6077"/>
                    <a:pt x="225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4407"/>
                    <a:pt x="19799" y="17776"/>
                    <a:pt x="16799" y="19780"/>
                  </a:cubicBezTo>
                  <a:lnTo>
                    <a:pt x="18299" y="22025"/>
                  </a:lnTo>
                  <a:lnTo>
                    <a:pt x="12994" y="20969"/>
                  </a:lnTo>
                  <a:lnTo>
                    <a:pt x="14049" y="15664"/>
                  </a:lnTo>
                  <a:lnTo>
                    <a:pt x="15549" y="17909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25400" cap="flat" cmpd="sng">
              <a:solidFill>
                <a:schemeClr val="hlink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7" name="Group 53"/>
          <p:cNvGrpSpPr/>
          <p:nvPr/>
        </p:nvGrpSpPr>
        <p:grpSpPr>
          <a:xfrm>
            <a:off x="4716463" y="3860800"/>
            <a:ext cx="1225550" cy="866775"/>
            <a:chOff x="2971" y="2341"/>
            <a:chExt cx="772" cy="546"/>
          </a:xfrm>
        </p:grpSpPr>
        <p:sp>
          <p:nvSpPr>
            <p:cNvPr id="19510" name="AutoShape 44"/>
            <p:cNvSpPr/>
            <p:nvPr/>
          </p:nvSpPr>
          <p:spPr>
            <a:xfrm>
              <a:off x="2971" y="252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grpSp>
          <p:nvGrpSpPr>
            <p:cNvPr id="19511" name="Group 52"/>
            <p:cNvGrpSpPr/>
            <p:nvPr/>
          </p:nvGrpSpPr>
          <p:grpSpPr>
            <a:xfrm>
              <a:off x="3198" y="2341"/>
              <a:ext cx="545" cy="546"/>
              <a:chOff x="3198" y="2567"/>
              <a:chExt cx="545" cy="546"/>
            </a:xfrm>
          </p:grpSpPr>
          <p:sp>
            <p:nvSpPr>
              <p:cNvPr id="19512" name="Oval 45"/>
              <p:cNvSpPr/>
              <p:nvPr/>
            </p:nvSpPr>
            <p:spPr>
              <a:xfrm>
                <a:off x="3379" y="2751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19513" name="Oval 46"/>
              <p:cNvSpPr/>
              <p:nvPr/>
            </p:nvSpPr>
            <p:spPr>
              <a:xfrm>
                <a:off x="3607" y="2567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w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514" name="Line 47"/>
              <p:cNvSpPr/>
              <p:nvPr/>
            </p:nvSpPr>
            <p:spPr>
              <a:xfrm flipH="1">
                <a:off x="3515" y="2704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9515" name="Group 48"/>
              <p:cNvGrpSpPr/>
              <p:nvPr/>
            </p:nvGrpSpPr>
            <p:grpSpPr>
              <a:xfrm>
                <a:off x="3198" y="2886"/>
                <a:ext cx="227" cy="227"/>
                <a:chOff x="975" y="1525"/>
                <a:chExt cx="227" cy="227"/>
              </a:xfrm>
            </p:grpSpPr>
            <p:sp>
              <p:nvSpPr>
                <p:cNvPr id="19516" name="Oval 49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tIns="10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600" b="1" i="1">
                      <a:solidFill>
                        <a:srgbClr val="FFFFFF"/>
                      </a:solidFill>
                    </a:rPr>
                    <a:t>x</a:t>
                  </a:r>
                  <a:endParaRPr lang="en-US" altLang="zh-CN" sz="1600" b="1" i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9517" name="Line 50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10" name="Group 63"/>
          <p:cNvGrpSpPr/>
          <p:nvPr/>
        </p:nvGrpSpPr>
        <p:grpSpPr>
          <a:xfrm>
            <a:off x="5508625" y="4365625"/>
            <a:ext cx="287338" cy="358775"/>
            <a:chOff x="3470" y="2659"/>
            <a:chExt cx="181" cy="226"/>
          </a:xfrm>
        </p:grpSpPr>
        <p:sp>
          <p:nvSpPr>
            <p:cNvPr id="19508" name="Oval 57"/>
            <p:cNvSpPr/>
            <p:nvPr/>
          </p:nvSpPr>
          <p:spPr>
            <a:xfrm>
              <a:off x="3515" y="274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509" name="Line 58"/>
            <p:cNvSpPr/>
            <p:nvPr/>
          </p:nvSpPr>
          <p:spPr>
            <a:xfrm flipH="1" flipV="1">
              <a:off x="3470" y="2659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025" name="AutoShape 73"/>
          <p:cNvSpPr/>
          <p:nvPr/>
        </p:nvSpPr>
        <p:spPr>
          <a:xfrm>
            <a:off x="6588125" y="4078288"/>
            <a:ext cx="2195513" cy="719137"/>
          </a:xfrm>
          <a:prstGeom prst="wedgeEllipseCallout">
            <a:avLst>
              <a:gd name="adj1" fmla="val -96639"/>
              <a:gd name="adj2" fmla="val -29250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ym typeface="Wingdings" panose="05000000000000000000" pitchFamily="2" charset="2"/>
              </a:rPr>
              <a:t>Still not solved</a:t>
            </a:r>
            <a:endParaRPr lang="en-US" altLang="zh-CN" sz="2400" b="1"/>
          </a:p>
        </p:txBody>
      </p:sp>
      <p:grpSp>
        <p:nvGrpSpPr>
          <p:cNvPr id="11" name="Group 88"/>
          <p:cNvGrpSpPr/>
          <p:nvPr/>
        </p:nvGrpSpPr>
        <p:grpSpPr>
          <a:xfrm>
            <a:off x="755650" y="4870450"/>
            <a:ext cx="2087563" cy="935038"/>
            <a:chOff x="476" y="2977"/>
            <a:chExt cx="1315" cy="589"/>
          </a:xfrm>
        </p:grpSpPr>
        <p:sp>
          <p:nvSpPr>
            <p:cNvPr id="19496" name="Oval 75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497" name="Oval 76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498" name="Line 77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99" name="Group 78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19506" name="Oval 79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507" name="Line 80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500" name="Text Box 81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2: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9501" name="Oval 83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502" name="Line 84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503" name="Group 85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19504" name="Oval 86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505" name="Line 87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" name="Group 89"/>
          <p:cNvGrpSpPr/>
          <p:nvPr/>
        </p:nvGrpSpPr>
        <p:grpSpPr>
          <a:xfrm>
            <a:off x="3132138" y="4868863"/>
            <a:ext cx="2087562" cy="935037"/>
            <a:chOff x="476" y="2977"/>
            <a:chExt cx="1315" cy="589"/>
          </a:xfrm>
        </p:grpSpPr>
        <p:sp>
          <p:nvSpPr>
            <p:cNvPr id="19484" name="Oval 90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485" name="Oval 91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486" name="Line 92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87" name="Group 93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19494" name="Oval 94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495" name="Line 95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88" name="Text Box 96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3: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9489" name="Oval 97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490" name="Line 98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91" name="Group 99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19492" name="Oval 100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493" name="Line 101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7" name="Group 102"/>
          <p:cNvGrpSpPr/>
          <p:nvPr/>
        </p:nvGrpSpPr>
        <p:grpSpPr>
          <a:xfrm>
            <a:off x="5724525" y="4868863"/>
            <a:ext cx="2087563" cy="935037"/>
            <a:chOff x="476" y="2977"/>
            <a:chExt cx="1315" cy="589"/>
          </a:xfrm>
        </p:grpSpPr>
        <p:sp>
          <p:nvSpPr>
            <p:cNvPr id="19472" name="Oval 103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19473" name="Oval 104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474" name="Line 105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75" name="Group 106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19482" name="Oval 107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483" name="Line 108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76" name="Text Box 109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4: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9477" name="Oval 110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19478" name="Line 111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79" name="Group 112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19480" name="Oval 113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481" name="Line 114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7" grpId="0"/>
      <p:bldP spid="125964" grpId="0" animBg="1"/>
      <p:bldP spid="125965" grpId="0" animBg="1"/>
      <p:bldP spid="125966" grpId="0"/>
      <p:bldP spid="1260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20482" name="Text Box 4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grpSp>
        <p:nvGrpSpPr>
          <p:cNvPr id="20483" name="Group 5"/>
          <p:cNvGrpSpPr/>
          <p:nvPr/>
        </p:nvGrpSpPr>
        <p:grpSpPr>
          <a:xfrm>
            <a:off x="611188" y="476250"/>
            <a:ext cx="2087562" cy="935038"/>
            <a:chOff x="476" y="2977"/>
            <a:chExt cx="1315" cy="589"/>
          </a:xfrm>
        </p:grpSpPr>
        <p:sp>
          <p:nvSpPr>
            <p:cNvPr id="20624" name="Oval 6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625" name="Oval 7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26" name="Line 8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27" name="Group 9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20634" name="Oval 10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35" name="Line 11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628" name="Text Box 12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2: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20629" name="Oval 13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30" name="Line 14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31" name="Group 15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20632" name="Oval 16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33" name="Line 17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" name="Group 54"/>
          <p:cNvGrpSpPr/>
          <p:nvPr/>
        </p:nvGrpSpPr>
        <p:grpSpPr>
          <a:xfrm>
            <a:off x="2987675" y="477838"/>
            <a:ext cx="1582738" cy="935037"/>
            <a:chOff x="1882" y="301"/>
            <a:chExt cx="997" cy="589"/>
          </a:xfrm>
        </p:grpSpPr>
        <p:sp>
          <p:nvSpPr>
            <p:cNvPr id="20612" name="AutoShape 18"/>
            <p:cNvSpPr/>
            <p:nvPr/>
          </p:nvSpPr>
          <p:spPr>
            <a:xfrm>
              <a:off x="1882" y="527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613" name="Oval 43"/>
            <p:cNvSpPr/>
            <p:nvPr/>
          </p:nvSpPr>
          <p:spPr>
            <a:xfrm>
              <a:off x="2472" y="301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i="1"/>
            </a:p>
          </p:txBody>
        </p:sp>
        <p:sp>
          <p:nvSpPr>
            <p:cNvPr id="20614" name="Oval 44"/>
            <p:cNvSpPr/>
            <p:nvPr/>
          </p:nvSpPr>
          <p:spPr>
            <a:xfrm>
              <a:off x="2608" y="52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15" name="Line 45"/>
            <p:cNvSpPr/>
            <p:nvPr/>
          </p:nvSpPr>
          <p:spPr>
            <a:xfrm flipH="1" flipV="1">
              <a:off x="2563" y="43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16" name="Group 46"/>
            <p:cNvGrpSpPr/>
            <p:nvPr/>
          </p:nvGrpSpPr>
          <p:grpSpPr>
            <a:xfrm>
              <a:off x="2291" y="436"/>
              <a:ext cx="227" cy="227"/>
              <a:chOff x="975" y="1525"/>
              <a:chExt cx="227" cy="227"/>
            </a:xfrm>
          </p:grpSpPr>
          <p:sp>
            <p:nvSpPr>
              <p:cNvPr id="20622" name="Oval 47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23" name="Line 48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617" name="Oval 49"/>
            <p:cNvSpPr/>
            <p:nvPr/>
          </p:nvSpPr>
          <p:spPr>
            <a:xfrm>
              <a:off x="2743" y="75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18" name="Line 50"/>
            <p:cNvSpPr/>
            <p:nvPr/>
          </p:nvSpPr>
          <p:spPr>
            <a:xfrm flipH="1" flipV="1">
              <a:off x="2698" y="664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19" name="Group 51"/>
            <p:cNvGrpSpPr/>
            <p:nvPr/>
          </p:nvGrpSpPr>
          <p:grpSpPr>
            <a:xfrm>
              <a:off x="2426" y="663"/>
              <a:ext cx="227" cy="227"/>
              <a:chOff x="975" y="1525"/>
              <a:chExt cx="227" cy="227"/>
            </a:xfrm>
          </p:grpSpPr>
          <p:sp>
            <p:nvSpPr>
              <p:cNvPr id="20620" name="Oval 52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21" name="Line 53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" name="Group 107"/>
          <p:cNvGrpSpPr/>
          <p:nvPr/>
        </p:nvGrpSpPr>
        <p:grpSpPr>
          <a:xfrm>
            <a:off x="6372225" y="477838"/>
            <a:ext cx="1509713" cy="935037"/>
            <a:chOff x="4014" y="301"/>
            <a:chExt cx="951" cy="589"/>
          </a:xfrm>
        </p:grpSpPr>
        <p:sp>
          <p:nvSpPr>
            <p:cNvPr id="20600" name="AutoShape 56"/>
            <p:cNvSpPr/>
            <p:nvPr/>
          </p:nvSpPr>
          <p:spPr>
            <a:xfrm>
              <a:off x="4014" y="527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601" name="Oval 68"/>
            <p:cNvSpPr/>
            <p:nvPr/>
          </p:nvSpPr>
          <p:spPr>
            <a:xfrm>
              <a:off x="4558" y="30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i="1">
                <a:solidFill>
                  <a:srgbClr val="FFFFFF"/>
                </a:solidFill>
              </a:endParaRPr>
            </a:p>
          </p:txBody>
        </p:sp>
        <p:sp>
          <p:nvSpPr>
            <p:cNvPr id="20602" name="Oval 69"/>
            <p:cNvSpPr/>
            <p:nvPr/>
          </p:nvSpPr>
          <p:spPr>
            <a:xfrm>
              <a:off x="4694" y="52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03" name="Line 70"/>
            <p:cNvSpPr/>
            <p:nvPr/>
          </p:nvSpPr>
          <p:spPr>
            <a:xfrm flipH="1" flipV="1">
              <a:off x="4649" y="43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04" name="Group 71"/>
            <p:cNvGrpSpPr/>
            <p:nvPr/>
          </p:nvGrpSpPr>
          <p:grpSpPr>
            <a:xfrm>
              <a:off x="4377" y="436"/>
              <a:ext cx="227" cy="227"/>
              <a:chOff x="975" y="1525"/>
              <a:chExt cx="227" cy="227"/>
            </a:xfrm>
          </p:grpSpPr>
          <p:sp>
            <p:nvSpPr>
              <p:cNvPr id="20610" name="Oval 72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11" name="Line 73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605" name="Oval 74"/>
            <p:cNvSpPr/>
            <p:nvPr/>
          </p:nvSpPr>
          <p:spPr>
            <a:xfrm>
              <a:off x="4829" y="75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606" name="Line 75"/>
            <p:cNvSpPr/>
            <p:nvPr/>
          </p:nvSpPr>
          <p:spPr>
            <a:xfrm flipH="1" flipV="1">
              <a:off x="4784" y="664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607" name="Group 76"/>
            <p:cNvGrpSpPr/>
            <p:nvPr/>
          </p:nvGrpSpPr>
          <p:grpSpPr>
            <a:xfrm>
              <a:off x="4512" y="663"/>
              <a:ext cx="227" cy="227"/>
              <a:chOff x="975" y="1525"/>
              <a:chExt cx="227" cy="227"/>
            </a:xfrm>
          </p:grpSpPr>
          <p:sp>
            <p:nvSpPr>
              <p:cNvPr id="20608" name="Oval 77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609" name="Line 78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106"/>
          <p:cNvGrpSpPr/>
          <p:nvPr/>
        </p:nvGrpSpPr>
        <p:grpSpPr>
          <a:xfrm>
            <a:off x="4932363" y="476250"/>
            <a:ext cx="1365250" cy="2159000"/>
            <a:chOff x="3107" y="300"/>
            <a:chExt cx="860" cy="1360"/>
          </a:xfrm>
        </p:grpSpPr>
        <p:sp>
          <p:nvSpPr>
            <p:cNvPr id="20577" name="Oval 57"/>
            <p:cNvSpPr/>
            <p:nvPr/>
          </p:nvSpPr>
          <p:spPr>
            <a:xfrm>
              <a:off x="3560" y="30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i="1">
                <a:solidFill>
                  <a:srgbClr val="FFFFFF"/>
                </a:solidFill>
              </a:endParaRPr>
            </a:p>
          </p:txBody>
        </p:sp>
        <p:sp>
          <p:nvSpPr>
            <p:cNvPr id="20578" name="Oval 58"/>
            <p:cNvSpPr/>
            <p:nvPr/>
          </p:nvSpPr>
          <p:spPr>
            <a:xfrm>
              <a:off x="3696" y="52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79" name="Line 59"/>
            <p:cNvSpPr/>
            <p:nvPr/>
          </p:nvSpPr>
          <p:spPr>
            <a:xfrm flipH="1" flipV="1">
              <a:off x="3651" y="436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80" name="Group 60"/>
            <p:cNvGrpSpPr/>
            <p:nvPr/>
          </p:nvGrpSpPr>
          <p:grpSpPr>
            <a:xfrm>
              <a:off x="3379" y="435"/>
              <a:ext cx="227" cy="227"/>
              <a:chOff x="975" y="1525"/>
              <a:chExt cx="227" cy="227"/>
            </a:xfrm>
          </p:grpSpPr>
          <p:sp>
            <p:nvSpPr>
              <p:cNvPr id="20598" name="Oval 61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99" name="Line 62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81" name="Oval 63"/>
            <p:cNvSpPr/>
            <p:nvPr/>
          </p:nvSpPr>
          <p:spPr>
            <a:xfrm>
              <a:off x="3831" y="75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82" name="Line 64"/>
            <p:cNvSpPr/>
            <p:nvPr/>
          </p:nvSpPr>
          <p:spPr>
            <a:xfrm flipH="1" flipV="1">
              <a:off x="3786" y="66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83" name="Group 65"/>
            <p:cNvGrpSpPr/>
            <p:nvPr/>
          </p:nvGrpSpPr>
          <p:grpSpPr>
            <a:xfrm>
              <a:off x="3514" y="662"/>
              <a:ext cx="227" cy="227"/>
              <a:chOff x="975" y="1525"/>
              <a:chExt cx="227" cy="227"/>
            </a:xfrm>
          </p:grpSpPr>
          <p:sp>
            <p:nvSpPr>
              <p:cNvPr id="20596" name="Oval 66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97" name="Line 67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84" name="AutoShape 80"/>
            <p:cNvSpPr/>
            <p:nvPr/>
          </p:nvSpPr>
          <p:spPr>
            <a:xfrm>
              <a:off x="3107" y="527"/>
              <a:ext cx="91" cy="907"/>
            </a:xfrm>
            <a:prstGeom prst="leftBrace">
              <a:avLst>
                <a:gd name="adj1" fmla="val 83058"/>
                <a:gd name="adj2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85" name="Oval 83"/>
            <p:cNvSpPr/>
            <p:nvPr/>
          </p:nvSpPr>
          <p:spPr>
            <a:xfrm>
              <a:off x="3560" y="1071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>
                  <a:solidFill>
                    <a:srgbClr val="FFFFFF"/>
                  </a:solidFill>
                </a:rPr>
                <a:t>x</a:t>
              </a:r>
              <a:endParaRPr lang="en-US" altLang="zh-CN" sz="1800" b="1" i="1">
                <a:solidFill>
                  <a:srgbClr val="FFFFFF"/>
                </a:solidFill>
              </a:endParaRPr>
            </a:p>
          </p:txBody>
        </p:sp>
        <p:sp>
          <p:nvSpPr>
            <p:cNvPr id="20586" name="Oval 84"/>
            <p:cNvSpPr/>
            <p:nvPr/>
          </p:nvSpPr>
          <p:spPr>
            <a:xfrm>
              <a:off x="3696" y="129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87" name="Line 85"/>
            <p:cNvSpPr/>
            <p:nvPr/>
          </p:nvSpPr>
          <p:spPr>
            <a:xfrm flipH="1" flipV="1">
              <a:off x="3651" y="120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88" name="Group 86"/>
            <p:cNvGrpSpPr/>
            <p:nvPr/>
          </p:nvGrpSpPr>
          <p:grpSpPr>
            <a:xfrm>
              <a:off x="3379" y="1206"/>
              <a:ext cx="227" cy="227"/>
              <a:chOff x="975" y="1525"/>
              <a:chExt cx="227" cy="227"/>
            </a:xfrm>
          </p:grpSpPr>
          <p:sp>
            <p:nvSpPr>
              <p:cNvPr id="20594" name="Oval 87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95" name="Line 88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89" name="Oval 89"/>
            <p:cNvSpPr/>
            <p:nvPr/>
          </p:nvSpPr>
          <p:spPr>
            <a:xfrm>
              <a:off x="3831" y="152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90" name="Line 90"/>
            <p:cNvSpPr/>
            <p:nvPr/>
          </p:nvSpPr>
          <p:spPr>
            <a:xfrm flipH="1" flipV="1">
              <a:off x="3786" y="1434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91" name="Group 91"/>
            <p:cNvGrpSpPr/>
            <p:nvPr/>
          </p:nvGrpSpPr>
          <p:grpSpPr>
            <a:xfrm>
              <a:off x="3514" y="1433"/>
              <a:ext cx="227" cy="227"/>
              <a:chOff x="975" y="1525"/>
              <a:chExt cx="227" cy="227"/>
            </a:xfrm>
          </p:grpSpPr>
          <p:sp>
            <p:nvSpPr>
              <p:cNvPr id="20592" name="Oval 92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93" name="Line 93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" name="Group 108"/>
          <p:cNvGrpSpPr/>
          <p:nvPr/>
        </p:nvGrpSpPr>
        <p:grpSpPr>
          <a:xfrm>
            <a:off x="6372225" y="1628775"/>
            <a:ext cx="2303463" cy="1006475"/>
            <a:chOff x="4014" y="1026"/>
            <a:chExt cx="1451" cy="634"/>
          </a:xfrm>
        </p:grpSpPr>
        <p:sp>
          <p:nvSpPr>
            <p:cNvPr id="20575" name="AutoShape 82"/>
            <p:cNvSpPr/>
            <p:nvPr/>
          </p:nvSpPr>
          <p:spPr>
            <a:xfrm>
              <a:off x="4014" y="1298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76" name="Text Box 105"/>
            <p:cNvSpPr txBox="1"/>
            <p:nvPr/>
          </p:nvSpPr>
          <p:spPr>
            <a:xfrm>
              <a:off x="4332" y="1026"/>
              <a:ext cx="1133" cy="634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/>
                <a:t>Continue to add 1 black to the path of </a:t>
              </a:r>
              <a:r>
                <a:rPr lang="en-US" altLang="zh-CN" sz="2000" b="1" i="1"/>
                <a:t>x</a:t>
              </a:r>
              <a:endParaRPr lang="en-US" altLang="zh-CN" sz="2000" b="1"/>
            </a:p>
          </p:txBody>
        </p:sp>
      </p:grpSp>
      <p:grpSp>
        <p:nvGrpSpPr>
          <p:cNvPr id="17" name="Group 109"/>
          <p:cNvGrpSpPr/>
          <p:nvPr/>
        </p:nvGrpSpPr>
        <p:grpSpPr>
          <a:xfrm>
            <a:off x="755650" y="2925763"/>
            <a:ext cx="2087563" cy="935037"/>
            <a:chOff x="476" y="2977"/>
            <a:chExt cx="1315" cy="589"/>
          </a:xfrm>
        </p:grpSpPr>
        <p:sp>
          <p:nvSpPr>
            <p:cNvPr id="20563" name="Oval 110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64" name="Oval 111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65" name="Line 112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66" name="Group 113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20573" name="Oval 114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74" name="Line 115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67" name="Text Box 116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3: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20568" name="Oval 117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69" name="Line 118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70" name="Group 119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20571" name="Oval 120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72" name="Line 121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0" name="Group 122"/>
          <p:cNvGrpSpPr/>
          <p:nvPr/>
        </p:nvGrpSpPr>
        <p:grpSpPr>
          <a:xfrm>
            <a:off x="2989263" y="2925763"/>
            <a:ext cx="1582737" cy="935037"/>
            <a:chOff x="1882" y="301"/>
            <a:chExt cx="997" cy="589"/>
          </a:xfrm>
        </p:grpSpPr>
        <p:sp>
          <p:nvSpPr>
            <p:cNvPr id="20551" name="AutoShape 123"/>
            <p:cNvSpPr/>
            <p:nvPr/>
          </p:nvSpPr>
          <p:spPr>
            <a:xfrm>
              <a:off x="1882" y="527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52" name="Oval 124"/>
            <p:cNvSpPr/>
            <p:nvPr/>
          </p:nvSpPr>
          <p:spPr>
            <a:xfrm>
              <a:off x="2472" y="301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i="1"/>
            </a:p>
          </p:txBody>
        </p:sp>
        <p:sp>
          <p:nvSpPr>
            <p:cNvPr id="20553" name="Oval 125"/>
            <p:cNvSpPr/>
            <p:nvPr/>
          </p:nvSpPr>
          <p:spPr>
            <a:xfrm>
              <a:off x="2608" y="52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54" name="Line 126"/>
            <p:cNvSpPr/>
            <p:nvPr/>
          </p:nvSpPr>
          <p:spPr>
            <a:xfrm flipH="1" flipV="1">
              <a:off x="2563" y="437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55" name="Group 127"/>
            <p:cNvGrpSpPr/>
            <p:nvPr/>
          </p:nvGrpSpPr>
          <p:grpSpPr>
            <a:xfrm>
              <a:off x="2291" y="436"/>
              <a:ext cx="227" cy="227"/>
              <a:chOff x="975" y="1525"/>
              <a:chExt cx="227" cy="227"/>
            </a:xfrm>
          </p:grpSpPr>
          <p:sp>
            <p:nvSpPr>
              <p:cNvPr id="20561" name="Oval 128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62" name="Line 129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56" name="Oval 130"/>
            <p:cNvSpPr/>
            <p:nvPr/>
          </p:nvSpPr>
          <p:spPr>
            <a:xfrm>
              <a:off x="2743" y="75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57" name="Line 131"/>
            <p:cNvSpPr/>
            <p:nvPr/>
          </p:nvSpPr>
          <p:spPr>
            <a:xfrm flipH="1" flipV="1">
              <a:off x="2698" y="664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58" name="Group 132"/>
            <p:cNvGrpSpPr/>
            <p:nvPr/>
          </p:nvGrpSpPr>
          <p:grpSpPr>
            <a:xfrm>
              <a:off x="2426" y="663"/>
              <a:ext cx="227" cy="227"/>
              <a:chOff x="975" y="1525"/>
              <a:chExt cx="227" cy="227"/>
            </a:xfrm>
          </p:grpSpPr>
          <p:sp>
            <p:nvSpPr>
              <p:cNvPr id="20559" name="Oval 133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60" name="Line 134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33255" name="AutoShape 135"/>
          <p:cNvSpPr/>
          <p:nvPr/>
        </p:nvSpPr>
        <p:spPr>
          <a:xfrm rot="-5400000">
            <a:off x="4083050" y="3771900"/>
            <a:ext cx="254000" cy="287338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303857695" y="39927278"/>
              </a:cxn>
              <a:cxn ang="0">
                <a:pos x="21511284" y="338205859"/>
              </a:cxn>
              <a:cxn ang="0">
                <a:pos x="283570751" y="102055607"/>
              </a:cxn>
              <a:cxn ang="0">
                <a:pos x="349903192" y="689721519"/>
              </a:cxn>
              <a:cxn ang="0">
                <a:pos x="248463894" y="656651669"/>
              </a:cxn>
              <a:cxn ang="0">
                <a:pos x="268636903" y="490522934"/>
              </a:cxn>
            </a:cxnLst>
            <a:rect l="txL" t="txT" r="txR" b="txB"/>
            <a:pathLst>
              <a:path w="21600" h="21600">
                <a:moveTo>
                  <a:pt x="15549" y="17909"/>
                </a:moveTo>
                <a:cubicBezTo>
                  <a:pt x="17924" y="16323"/>
                  <a:pt x="19350" y="13655"/>
                  <a:pt x="19350" y="10800"/>
                </a:cubicBezTo>
                <a:cubicBezTo>
                  <a:pt x="19350" y="6077"/>
                  <a:pt x="15522" y="2250"/>
                  <a:pt x="10800" y="2250"/>
                </a:cubicBezTo>
                <a:cubicBezTo>
                  <a:pt x="6077" y="2250"/>
                  <a:pt x="2250" y="6077"/>
                  <a:pt x="225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407"/>
                  <a:pt x="19799" y="17776"/>
                  <a:pt x="16799" y="19780"/>
                </a:cubicBezTo>
                <a:lnTo>
                  <a:pt x="18299" y="22025"/>
                </a:lnTo>
                <a:lnTo>
                  <a:pt x="12994" y="20969"/>
                </a:lnTo>
                <a:lnTo>
                  <a:pt x="14049" y="15664"/>
                </a:lnTo>
                <a:lnTo>
                  <a:pt x="15549" y="17909"/>
                </a:lnTo>
                <a:close/>
              </a:path>
            </a:pathLst>
          </a:custGeom>
          <a:solidFill>
            <a:schemeClr val="hlink">
              <a:alpha val="100000"/>
            </a:schemeClr>
          </a:solidFill>
          <a:ln w="25400" cap="flat" cmpd="sng">
            <a:solidFill>
              <a:schemeClr val="hlink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3" name="Group 151"/>
          <p:cNvGrpSpPr/>
          <p:nvPr/>
        </p:nvGrpSpPr>
        <p:grpSpPr>
          <a:xfrm>
            <a:off x="4859338" y="2925763"/>
            <a:ext cx="1871662" cy="1295400"/>
            <a:chOff x="3061" y="1752"/>
            <a:chExt cx="1179" cy="816"/>
          </a:xfrm>
        </p:grpSpPr>
        <p:sp>
          <p:nvSpPr>
            <p:cNvPr id="20540" name="AutoShape 137"/>
            <p:cNvSpPr/>
            <p:nvPr/>
          </p:nvSpPr>
          <p:spPr>
            <a:xfrm>
              <a:off x="3061" y="1978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41" name="Oval 138"/>
            <p:cNvSpPr/>
            <p:nvPr/>
          </p:nvSpPr>
          <p:spPr>
            <a:xfrm>
              <a:off x="3651" y="1752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i="1"/>
            </a:p>
          </p:txBody>
        </p:sp>
        <p:sp>
          <p:nvSpPr>
            <p:cNvPr id="20542" name="Oval 139"/>
            <p:cNvSpPr/>
            <p:nvPr/>
          </p:nvSpPr>
          <p:spPr>
            <a:xfrm>
              <a:off x="3969" y="2205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43" name="Line 140"/>
            <p:cNvSpPr/>
            <p:nvPr/>
          </p:nvSpPr>
          <p:spPr>
            <a:xfrm flipH="1" flipV="1">
              <a:off x="3742" y="1888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44" name="Group 141"/>
            <p:cNvGrpSpPr/>
            <p:nvPr/>
          </p:nvGrpSpPr>
          <p:grpSpPr>
            <a:xfrm>
              <a:off x="3470" y="1887"/>
              <a:ext cx="227" cy="227"/>
              <a:chOff x="975" y="1525"/>
              <a:chExt cx="227" cy="227"/>
            </a:xfrm>
          </p:grpSpPr>
          <p:sp>
            <p:nvSpPr>
              <p:cNvPr id="20549" name="Oval 142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50" name="Line 143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45" name="Oval 144"/>
            <p:cNvSpPr/>
            <p:nvPr/>
          </p:nvSpPr>
          <p:spPr>
            <a:xfrm>
              <a:off x="4104" y="243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46" name="Line 145"/>
            <p:cNvSpPr/>
            <p:nvPr/>
          </p:nvSpPr>
          <p:spPr>
            <a:xfrm flipH="1" flipV="1">
              <a:off x="4059" y="2342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47" name="Oval 147"/>
            <p:cNvSpPr/>
            <p:nvPr/>
          </p:nvSpPr>
          <p:spPr>
            <a:xfrm>
              <a:off x="3787" y="197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48" name="Line 148"/>
            <p:cNvSpPr/>
            <p:nvPr/>
          </p:nvSpPr>
          <p:spPr>
            <a:xfrm>
              <a:off x="3878" y="2069"/>
              <a:ext cx="137" cy="13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" name="Group 152"/>
          <p:cNvGrpSpPr/>
          <p:nvPr/>
        </p:nvGrpSpPr>
        <p:grpSpPr>
          <a:xfrm>
            <a:off x="6011863" y="3286125"/>
            <a:ext cx="504825" cy="574675"/>
            <a:chOff x="3787" y="1979"/>
            <a:chExt cx="318" cy="362"/>
          </a:xfrm>
        </p:grpSpPr>
        <p:sp>
          <p:nvSpPr>
            <p:cNvPr id="20538" name="Oval 149"/>
            <p:cNvSpPr/>
            <p:nvPr/>
          </p:nvSpPr>
          <p:spPr>
            <a:xfrm>
              <a:off x="3969" y="2205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39" name="Oval 150"/>
            <p:cNvSpPr/>
            <p:nvPr/>
          </p:nvSpPr>
          <p:spPr>
            <a:xfrm>
              <a:off x="3787" y="1979"/>
              <a:ext cx="136" cy="136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</p:grpSp>
      <p:grpSp>
        <p:nvGrpSpPr>
          <p:cNvPr id="26" name="Group 153"/>
          <p:cNvGrpSpPr/>
          <p:nvPr/>
        </p:nvGrpSpPr>
        <p:grpSpPr>
          <a:xfrm>
            <a:off x="755650" y="4652963"/>
            <a:ext cx="2087563" cy="935037"/>
            <a:chOff x="476" y="2977"/>
            <a:chExt cx="1315" cy="589"/>
          </a:xfrm>
        </p:grpSpPr>
        <p:sp>
          <p:nvSpPr>
            <p:cNvPr id="20526" name="Oval 154"/>
            <p:cNvSpPr/>
            <p:nvPr/>
          </p:nvSpPr>
          <p:spPr>
            <a:xfrm>
              <a:off x="1384" y="2977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/>
                <a:t>?</a:t>
              </a:r>
              <a:endParaRPr lang="en-US" altLang="zh-CN" sz="1600" b="1"/>
            </a:p>
          </p:txBody>
        </p:sp>
        <p:sp>
          <p:nvSpPr>
            <p:cNvPr id="20527" name="Oval 155"/>
            <p:cNvSpPr/>
            <p:nvPr/>
          </p:nvSpPr>
          <p:spPr>
            <a:xfrm>
              <a:off x="1520" y="320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>
                  <a:solidFill>
                    <a:srgbClr val="FFFFFF"/>
                  </a:solidFill>
                </a:rPr>
                <a:t>w</a:t>
              </a:r>
              <a:endParaRPr lang="en-US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28" name="Line 156"/>
            <p:cNvSpPr/>
            <p:nvPr/>
          </p:nvSpPr>
          <p:spPr>
            <a:xfrm flipH="1" flipV="1">
              <a:off x="1475" y="3113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29" name="Group 157"/>
            <p:cNvGrpSpPr/>
            <p:nvPr/>
          </p:nvGrpSpPr>
          <p:grpSpPr>
            <a:xfrm>
              <a:off x="1203" y="3112"/>
              <a:ext cx="227" cy="227"/>
              <a:chOff x="975" y="1525"/>
              <a:chExt cx="227" cy="227"/>
            </a:xfrm>
          </p:grpSpPr>
          <p:sp>
            <p:nvSpPr>
              <p:cNvPr id="20536" name="Oval 158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37" name="Line 159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30" name="Text Box 160"/>
            <p:cNvSpPr txBox="1"/>
            <p:nvPr/>
          </p:nvSpPr>
          <p:spPr>
            <a:xfrm>
              <a:off x="476" y="2977"/>
              <a:ext cx="771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4: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20531" name="Oval 161"/>
            <p:cNvSpPr/>
            <p:nvPr/>
          </p:nvSpPr>
          <p:spPr>
            <a:xfrm>
              <a:off x="1655" y="343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32" name="Line 162"/>
            <p:cNvSpPr/>
            <p:nvPr/>
          </p:nvSpPr>
          <p:spPr>
            <a:xfrm flipH="1" flipV="1">
              <a:off x="1610" y="3340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33" name="Group 163"/>
            <p:cNvGrpSpPr/>
            <p:nvPr/>
          </p:nvGrpSpPr>
          <p:grpSpPr>
            <a:xfrm>
              <a:off x="1338" y="3339"/>
              <a:ext cx="227" cy="227"/>
              <a:chOff x="975" y="1525"/>
              <a:chExt cx="227" cy="227"/>
            </a:xfrm>
          </p:grpSpPr>
          <p:sp>
            <p:nvSpPr>
              <p:cNvPr id="20534" name="Oval 164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35" name="Line 165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9" name="Group 168"/>
          <p:cNvGrpSpPr/>
          <p:nvPr/>
        </p:nvGrpSpPr>
        <p:grpSpPr>
          <a:xfrm>
            <a:off x="6804025" y="3176588"/>
            <a:ext cx="1508125" cy="396875"/>
            <a:chOff x="4286" y="2001"/>
            <a:chExt cx="950" cy="250"/>
          </a:xfrm>
        </p:grpSpPr>
        <p:sp>
          <p:nvSpPr>
            <p:cNvPr id="20524" name="AutoShape 166"/>
            <p:cNvSpPr/>
            <p:nvPr/>
          </p:nvSpPr>
          <p:spPr>
            <a:xfrm>
              <a:off x="4286" y="2069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0525" name="Rectangle 167"/>
            <p:cNvSpPr/>
            <p:nvPr/>
          </p:nvSpPr>
          <p:spPr>
            <a:xfrm>
              <a:off x="4604" y="2001"/>
              <a:ext cx="632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Case 4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  <p:sp>
        <p:nvSpPr>
          <p:cNvPr id="133289" name="Text Box 169"/>
          <p:cNvSpPr txBox="1"/>
          <p:nvPr/>
        </p:nvSpPr>
        <p:spPr>
          <a:xfrm>
            <a:off x="7885113" y="620713"/>
            <a:ext cx="647700" cy="57943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FF0000"/>
                </a:solidFill>
                <a:sym typeface="Webdings" panose="05030102010509060703" pitchFamily="18" charset="2"/>
              </a:rPr>
              <a:t></a:t>
            </a:r>
            <a:endParaRPr lang="en-US" altLang="zh-CN" b="1">
              <a:solidFill>
                <a:srgbClr val="FF0000"/>
              </a:solidFill>
              <a:sym typeface="Webdings" panose="05030102010509060703" pitchFamily="18" charset="2"/>
            </a:endParaRPr>
          </a:p>
        </p:txBody>
      </p:sp>
      <p:grpSp>
        <p:nvGrpSpPr>
          <p:cNvPr id="30" name="Group 196"/>
          <p:cNvGrpSpPr/>
          <p:nvPr/>
        </p:nvGrpSpPr>
        <p:grpSpPr>
          <a:xfrm>
            <a:off x="3135313" y="4654550"/>
            <a:ext cx="1581150" cy="935038"/>
            <a:chOff x="1882" y="2932"/>
            <a:chExt cx="996" cy="589"/>
          </a:xfrm>
        </p:grpSpPr>
        <p:sp>
          <p:nvSpPr>
            <p:cNvPr id="20512" name="Oval 171"/>
            <p:cNvSpPr/>
            <p:nvPr/>
          </p:nvSpPr>
          <p:spPr>
            <a:xfrm>
              <a:off x="2471" y="293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/>
            </a:p>
          </p:txBody>
        </p:sp>
        <p:sp>
          <p:nvSpPr>
            <p:cNvPr id="20513" name="Oval 172"/>
            <p:cNvSpPr/>
            <p:nvPr/>
          </p:nvSpPr>
          <p:spPr>
            <a:xfrm>
              <a:off x="2607" y="3158"/>
              <a:ext cx="136" cy="136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/>
                <a:t>?</a:t>
              </a:r>
              <a:endParaRPr lang="en-US" altLang="zh-CN" sz="1600" b="1"/>
            </a:p>
          </p:txBody>
        </p:sp>
        <p:sp>
          <p:nvSpPr>
            <p:cNvPr id="20514" name="Line 173"/>
            <p:cNvSpPr/>
            <p:nvPr/>
          </p:nvSpPr>
          <p:spPr>
            <a:xfrm flipH="1" flipV="1">
              <a:off x="2562" y="3068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15" name="Group 174"/>
            <p:cNvGrpSpPr/>
            <p:nvPr/>
          </p:nvGrpSpPr>
          <p:grpSpPr>
            <a:xfrm>
              <a:off x="2290" y="3067"/>
              <a:ext cx="227" cy="227"/>
              <a:chOff x="975" y="1525"/>
              <a:chExt cx="227" cy="227"/>
            </a:xfrm>
          </p:grpSpPr>
          <p:sp>
            <p:nvSpPr>
              <p:cNvPr id="20522" name="Oval 175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i="1">
                    <a:solidFill>
                      <a:srgbClr val="FFFFFF"/>
                    </a:solidFill>
                  </a:rPr>
                  <a:t>x</a:t>
                </a:r>
                <a:endParaRPr lang="en-US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23" name="Line 176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16" name="Oval 178"/>
            <p:cNvSpPr/>
            <p:nvPr/>
          </p:nvSpPr>
          <p:spPr>
            <a:xfrm>
              <a:off x="2742" y="338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i="1">
                <a:solidFill>
                  <a:srgbClr val="FFFFFF"/>
                </a:solidFill>
              </a:endParaRPr>
            </a:p>
          </p:txBody>
        </p:sp>
        <p:sp>
          <p:nvSpPr>
            <p:cNvPr id="20517" name="Line 179"/>
            <p:cNvSpPr/>
            <p:nvPr/>
          </p:nvSpPr>
          <p:spPr>
            <a:xfrm flipH="1" flipV="1">
              <a:off x="2697" y="3295"/>
              <a:ext cx="90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18" name="Group 180"/>
            <p:cNvGrpSpPr/>
            <p:nvPr/>
          </p:nvGrpSpPr>
          <p:grpSpPr>
            <a:xfrm>
              <a:off x="2425" y="3294"/>
              <a:ext cx="227" cy="227"/>
              <a:chOff x="975" y="1525"/>
              <a:chExt cx="227" cy="227"/>
            </a:xfrm>
          </p:grpSpPr>
          <p:sp>
            <p:nvSpPr>
              <p:cNvPr id="20520" name="Oval 181"/>
              <p:cNvSpPr/>
              <p:nvPr/>
            </p:nvSpPr>
            <p:spPr>
              <a:xfrm>
                <a:off x="975" y="161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21" name="Line 182"/>
              <p:cNvSpPr/>
              <p:nvPr/>
            </p:nvSpPr>
            <p:spPr>
              <a:xfrm flipH="1">
                <a:off x="1066" y="1525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19" name="AutoShape 183"/>
            <p:cNvSpPr/>
            <p:nvPr/>
          </p:nvSpPr>
          <p:spPr>
            <a:xfrm>
              <a:off x="1882" y="311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133249" name="Group 199"/>
          <p:cNvGrpSpPr/>
          <p:nvPr/>
        </p:nvGrpSpPr>
        <p:grpSpPr>
          <a:xfrm>
            <a:off x="5005388" y="4652963"/>
            <a:ext cx="1438275" cy="935037"/>
            <a:chOff x="3153" y="2931"/>
            <a:chExt cx="906" cy="589"/>
          </a:xfrm>
        </p:grpSpPr>
        <p:grpSp>
          <p:nvGrpSpPr>
            <p:cNvPr id="20500" name="Group 198"/>
            <p:cNvGrpSpPr/>
            <p:nvPr/>
          </p:nvGrpSpPr>
          <p:grpSpPr>
            <a:xfrm>
              <a:off x="3425" y="2931"/>
              <a:ext cx="634" cy="589"/>
              <a:chOff x="3696" y="3385"/>
              <a:chExt cx="634" cy="589"/>
            </a:xfrm>
          </p:grpSpPr>
          <p:sp>
            <p:nvSpPr>
              <p:cNvPr id="20502" name="Oval 184"/>
              <p:cNvSpPr/>
              <p:nvPr/>
            </p:nvSpPr>
            <p:spPr>
              <a:xfrm>
                <a:off x="3877" y="3612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/>
              </a:p>
            </p:txBody>
          </p:sp>
          <p:sp>
            <p:nvSpPr>
              <p:cNvPr id="20503" name="Oval 185"/>
              <p:cNvSpPr/>
              <p:nvPr/>
            </p:nvSpPr>
            <p:spPr>
              <a:xfrm>
                <a:off x="4059" y="3385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?</a:t>
                </a:r>
                <a:endParaRPr lang="en-US" altLang="zh-CN" sz="1600" b="1"/>
              </a:p>
            </p:txBody>
          </p:sp>
          <p:sp>
            <p:nvSpPr>
              <p:cNvPr id="20504" name="Line 186"/>
              <p:cNvSpPr/>
              <p:nvPr/>
            </p:nvSpPr>
            <p:spPr>
              <a:xfrm flipH="1" flipV="1">
                <a:off x="3968" y="3747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0505" name="Group 187"/>
              <p:cNvGrpSpPr/>
              <p:nvPr/>
            </p:nvGrpSpPr>
            <p:grpSpPr>
              <a:xfrm>
                <a:off x="3696" y="3747"/>
                <a:ext cx="227" cy="227"/>
                <a:chOff x="975" y="1525"/>
                <a:chExt cx="227" cy="227"/>
              </a:xfrm>
            </p:grpSpPr>
            <p:sp>
              <p:nvSpPr>
                <p:cNvPr id="20510" name="Oval 188"/>
                <p:cNvSpPr/>
                <p:nvPr/>
              </p:nvSpPr>
              <p:spPr>
                <a:xfrm>
                  <a:off x="975" y="1616"/>
                  <a:ext cx="136" cy="136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tIns="10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600" b="1" i="1">
                      <a:solidFill>
                        <a:srgbClr val="FFFFFF"/>
                      </a:solidFill>
                    </a:rPr>
                    <a:t>x</a:t>
                  </a:r>
                  <a:endParaRPr lang="en-US" altLang="zh-CN" sz="1600" b="1" i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0511" name="Line 189"/>
                <p:cNvSpPr/>
                <p:nvPr/>
              </p:nvSpPr>
              <p:spPr>
                <a:xfrm flipH="1">
                  <a:off x="1066" y="1525"/>
                  <a:ext cx="136" cy="91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506" name="Oval 190"/>
              <p:cNvSpPr/>
              <p:nvPr/>
            </p:nvSpPr>
            <p:spPr>
              <a:xfrm>
                <a:off x="4194" y="3612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07" name="Line 191"/>
              <p:cNvSpPr/>
              <p:nvPr/>
            </p:nvSpPr>
            <p:spPr>
              <a:xfrm flipH="1" flipV="1">
                <a:off x="4149" y="3522"/>
                <a:ext cx="90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8" name="Oval 193"/>
              <p:cNvSpPr/>
              <p:nvPr/>
            </p:nvSpPr>
            <p:spPr>
              <a:xfrm>
                <a:off x="4014" y="3838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600" b="1" i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509" name="Line 194"/>
              <p:cNvSpPr/>
              <p:nvPr/>
            </p:nvSpPr>
            <p:spPr>
              <a:xfrm flipH="1">
                <a:off x="3969" y="3521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01" name="AutoShape 195"/>
            <p:cNvSpPr/>
            <p:nvPr/>
          </p:nvSpPr>
          <p:spPr>
            <a:xfrm>
              <a:off x="3153" y="311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sp>
        <p:nvSpPr>
          <p:cNvPr id="133317" name="AutoShape 197"/>
          <p:cNvSpPr/>
          <p:nvPr/>
        </p:nvSpPr>
        <p:spPr>
          <a:xfrm rot="5400000" flipH="1">
            <a:off x="4087813" y="4995863"/>
            <a:ext cx="182562" cy="2159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81093961" y="12726305"/>
              </a:cxn>
              <a:cxn ang="0">
                <a:pos x="5740753" y="107800119"/>
              </a:cxn>
              <a:cxn ang="0">
                <a:pos x="75679311" y="32529763"/>
              </a:cxn>
              <a:cxn ang="0">
                <a:pos x="93382048" y="219842404"/>
              </a:cxn>
              <a:cxn ang="0">
                <a:pos x="66309891" y="209302066"/>
              </a:cxn>
              <a:cxn ang="0">
                <a:pos x="71693749" y="156349632"/>
              </a:cxn>
            </a:cxnLst>
            <a:rect l="txL" t="txT" r="txR" b="txB"/>
            <a:pathLst>
              <a:path w="21600" h="21600">
                <a:moveTo>
                  <a:pt x="15549" y="17909"/>
                </a:moveTo>
                <a:cubicBezTo>
                  <a:pt x="17924" y="16323"/>
                  <a:pt x="19350" y="13655"/>
                  <a:pt x="19350" y="10800"/>
                </a:cubicBezTo>
                <a:cubicBezTo>
                  <a:pt x="19350" y="6077"/>
                  <a:pt x="15522" y="2250"/>
                  <a:pt x="10800" y="2250"/>
                </a:cubicBezTo>
                <a:cubicBezTo>
                  <a:pt x="6077" y="2250"/>
                  <a:pt x="2250" y="6077"/>
                  <a:pt x="225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407"/>
                  <a:pt x="19799" y="17776"/>
                  <a:pt x="16799" y="19780"/>
                </a:cubicBezTo>
                <a:lnTo>
                  <a:pt x="18299" y="22025"/>
                </a:lnTo>
                <a:lnTo>
                  <a:pt x="12994" y="20969"/>
                </a:lnTo>
                <a:lnTo>
                  <a:pt x="14049" y="15664"/>
                </a:lnTo>
                <a:lnTo>
                  <a:pt x="15549" y="17909"/>
                </a:lnTo>
                <a:close/>
              </a:path>
            </a:pathLst>
          </a:custGeom>
          <a:solidFill>
            <a:schemeClr val="hlink">
              <a:alpha val="100000"/>
            </a:schemeClr>
          </a:solidFill>
          <a:ln w="25400" cap="flat" cmpd="sng">
            <a:solidFill>
              <a:schemeClr val="hlink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33320" name="Text Box 200"/>
          <p:cNvSpPr txBox="1"/>
          <p:nvPr/>
        </p:nvSpPr>
        <p:spPr>
          <a:xfrm>
            <a:off x="6804025" y="4868863"/>
            <a:ext cx="647700" cy="57943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FF0000"/>
                </a:solidFill>
                <a:sym typeface="Webdings" panose="05030102010509060703" pitchFamily="18" charset="2"/>
              </a:rPr>
              <a:t></a:t>
            </a:r>
            <a:endParaRPr lang="en-US" altLang="zh-CN" b="1">
              <a:solidFill>
                <a:srgbClr val="FF0000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3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3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89" grpId="0"/>
      <p:bldP spid="1333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21506" name="Text Box 4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827088" y="692150"/>
            <a:ext cx="1441450" cy="1295400"/>
            <a:chOff x="521" y="618"/>
            <a:chExt cx="908" cy="816"/>
          </a:xfrm>
        </p:grpSpPr>
        <p:sp>
          <p:nvSpPr>
            <p:cNvPr id="21700" name="Oval 5"/>
            <p:cNvSpPr/>
            <p:nvPr/>
          </p:nvSpPr>
          <p:spPr>
            <a:xfrm>
              <a:off x="1021" y="61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1" name="Oval 6"/>
            <p:cNvSpPr/>
            <p:nvPr/>
          </p:nvSpPr>
          <p:spPr>
            <a:xfrm>
              <a:off x="794" y="84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2" name="Oval 7"/>
            <p:cNvSpPr/>
            <p:nvPr/>
          </p:nvSpPr>
          <p:spPr>
            <a:xfrm>
              <a:off x="1203" y="84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3" name="Oval 8"/>
            <p:cNvSpPr/>
            <p:nvPr/>
          </p:nvSpPr>
          <p:spPr>
            <a:xfrm>
              <a:off x="703" y="107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3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4" name="Oval 9"/>
            <p:cNvSpPr/>
            <p:nvPr/>
          </p:nvSpPr>
          <p:spPr>
            <a:xfrm>
              <a:off x="885" y="107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5" name="Oval 10"/>
            <p:cNvSpPr/>
            <p:nvPr/>
          </p:nvSpPr>
          <p:spPr>
            <a:xfrm>
              <a:off x="794" y="129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6" name="Oval 11"/>
            <p:cNvSpPr/>
            <p:nvPr/>
          </p:nvSpPr>
          <p:spPr>
            <a:xfrm>
              <a:off x="975" y="129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7" name="Oval 12"/>
            <p:cNvSpPr/>
            <p:nvPr/>
          </p:nvSpPr>
          <p:spPr>
            <a:xfrm>
              <a:off x="1112" y="107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8" name="Oval 13"/>
            <p:cNvSpPr/>
            <p:nvPr/>
          </p:nvSpPr>
          <p:spPr>
            <a:xfrm>
              <a:off x="1293" y="107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709" name="Line 14"/>
            <p:cNvSpPr/>
            <p:nvPr/>
          </p:nvSpPr>
          <p:spPr>
            <a:xfrm flipH="1">
              <a:off x="885" y="1208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0" name="Line 15"/>
            <p:cNvSpPr/>
            <p:nvPr/>
          </p:nvSpPr>
          <p:spPr>
            <a:xfrm>
              <a:off x="975" y="1208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1" name="Line 16"/>
            <p:cNvSpPr/>
            <p:nvPr/>
          </p:nvSpPr>
          <p:spPr>
            <a:xfrm flipH="1">
              <a:off x="794" y="98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2" name="Line 17"/>
            <p:cNvSpPr/>
            <p:nvPr/>
          </p:nvSpPr>
          <p:spPr>
            <a:xfrm>
              <a:off x="885" y="98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3" name="Line 18"/>
            <p:cNvSpPr/>
            <p:nvPr/>
          </p:nvSpPr>
          <p:spPr>
            <a:xfrm flipH="1">
              <a:off x="1203" y="98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4" name="Line 19"/>
            <p:cNvSpPr/>
            <p:nvPr/>
          </p:nvSpPr>
          <p:spPr>
            <a:xfrm>
              <a:off x="1293" y="981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5" name="Line 20"/>
            <p:cNvSpPr/>
            <p:nvPr/>
          </p:nvSpPr>
          <p:spPr>
            <a:xfrm flipH="1">
              <a:off x="885" y="754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6" name="Line 21"/>
            <p:cNvSpPr/>
            <p:nvPr/>
          </p:nvSpPr>
          <p:spPr>
            <a:xfrm>
              <a:off x="1112" y="754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717" name="Text Box 39"/>
            <p:cNvSpPr txBox="1"/>
            <p:nvPr/>
          </p:nvSpPr>
          <p:spPr>
            <a:xfrm>
              <a:off x="521" y="981"/>
              <a:ext cx="13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>
                  <a:solidFill>
                    <a:schemeClr val="hlink"/>
                  </a:solidFill>
                </a:rPr>
                <a:t>x</a:t>
              </a:r>
              <a:endParaRPr lang="en-US" altLang="zh-CN" sz="2000" b="1" i="1">
                <a:solidFill>
                  <a:schemeClr val="hlink"/>
                </a:solidFill>
              </a:endParaRPr>
            </a:p>
          </p:txBody>
        </p:sp>
      </p:grpSp>
      <p:grpSp>
        <p:nvGrpSpPr>
          <p:cNvPr id="3" name="Group 62"/>
          <p:cNvGrpSpPr/>
          <p:nvPr/>
        </p:nvGrpSpPr>
        <p:grpSpPr>
          <a:xfrm>
            <a:off x="2555875" y="763588"/>
            <a:ext cx="1728788" cy="1295400"/>
            <a:chOff x="1701" y="663"/>
            <a:chExt cx="1089" cy="816"/>
          </a:xfrm>
        </p:grpSpPr>
        <p:grpSp>
          <p:nvGrpSpPr>
            <p:cNvPr id="21681" name="Group 41"/>
            <p:cNvGrpSpPr/>
            <p:nvPr/>
          </p:nvGrpSpPr>
          <p:grpSpPr>
            <a:xfrm>
              <a:off x="2064" y="663"/>
              <a:ext cx="726" cy="816"/>
              <a:chOff x="2608" y="1026"/>
              <a:chExt cx="726" cy="816"/>
            </a:xfrm>
          </p:grpSpPr>
          <p:sp>
            <p:nvSpPr>
              <p:cNvPr id="21683" name="Oval 22"/>
              <p:cNvSpPr/>
              <p:nvPr/>
            </p:nvSpPr>
            <p:spPr>
              <a:xfrm>
                <a:off x="2926" y="102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10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4" name="Oval 23"/>
              <p:cNvSpPr/>
              <p:nvPr/>
            </p:nvSpPr>
            <p:spPr>
              <a:xfrm>
                <a:off x="2699" y="1253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5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5" name="Oval 24"/>
              <p:cNvSpPr/>
              <p:nvPr/>
            </p:nvSpPr>
            <p:spPr>
              <a:xfrm>
                <a:off x="3108" y="1253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15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6" name="Oval 25"/>
              <p:cNvSpPr/>
              <p:nvPr/>
            </p:nvSpPr>
            <p:spPr>
              <a:xfrm>
                <a:off x="2608" y="1480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3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7" name="Oval 26"/>
              <p:cNvSpPr/>
              <p:nvPr/>
            </p:nvSpPr>
            <p:spPr>
              <a:xfrm>
                <a:off x="2790" y="1480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7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8" name="Oval 27"/>
              <p:cNvSpPr/>
              <p:nvPr/>
            </p:nvSpPr>
            <p:spPr>
              <a:xfrm>
                <a:off x="2699" y="170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6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89" name="Oval 28"/>
              <p:cNvSpPr/>
              <p:nvPr/>
            </p:nvSpPr>
            <p:spPr>
              <a:xfrm>
                <a:off x="2880" y="170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8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90" name="Oval 29"/>
              <p:cNvSpPr/>
              <p:nvPr/>
            </p:nvSpPr>
            <p:spPr>
              <a:xfrm>
                <a:off x="3017" y="1480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11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91" name="Oval 30"/>
              <p:cNvSpPr/>
              <p:nvPr/>
            </p:nvSpPr>
            <p:spPr>
              <a:xfrm>
                <a:off x="3198" y="1480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>
                    <a:solidFill>
                      <a:srgbClr val="FFFFFF"/>
                    </a:solidFill>
                  </a:rPr>
                  <a:t>17</a:t>
                </a:r>
                <a:endParaRPr lang="en-US" altLang="zh-CN" sz="1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692" name="Line 31"/>
              <p:cNvSpPr/>
              <p:nvPr/>
            </p:nvSpPr>
            <p:spPr>
              <a:xfrm flipH="1">
                <a:off x="2790" y="1616"/>
                <a:ext cx="45" cy="9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3" name="Line 32"/>
              <p:cNvSpPr/>
              <p:nvPr/>
            </p:nvSpPr>
            <p:spPr>
              <a:xfrm>
                <a:off x="2880" y="1616"/>
                <a:ext cx="46" cy="9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4" name="Line 33"/>
              <p:cNvSpPr/>
              <p:nvPr/>
            </p:nvSpPr>
            <p:spPr>
              <a:xfrm flipH="1">
                <a:off x="2699" y="138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5" name="Line 34"/>
              <p:cNvSpPr/>
              <p:nvPr/>
            </p:nvSpPr>
            <p:spPr>
              <a:xfrm>
                <a:off x="2790" y="138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6" name="Line 35"/>
              <p:cNvSpPr/>
              <p:nvPr/>
            </p:nvSpPr>
            <p:spPr>
              <a:xfrm flipH="1">
                <a:off x="3108" y="138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7" name="Line 36"/>
              <p:cNvSpPr/>
              <p:nvPr/>
            </p:nvSpPr>
            <p:spPr>
              <a:xfrm>
                <a:off x="3198" y="1389"/>
                <a:ext cx="4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8" name="Line 37"/>
              <p:cNvSpPr/>
              <p:nvPr/>
            </p:nvSpPr>
            <p:spPr>
              <a:xfrm flipH="1">
                <a:off x="2790" y="1162"/>
                <a:ext cx="181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99" name="Line 38"/>
              <p:cNvSpPr/>
              <p:nvPr/>
            </p:nvSpPr>
            <p:spPr>
              <a:xfrm>
                <a:off x="3017" y="1162"/>
                <a:ext cx="13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682" name="AutoShape 42"/>
            <p:cNvSpPr/>
            <p:nvPr/>
          </p:nvSpPr>
          <p:spPr>
            <a:xfrm>
              <a:off x="1701" y="1026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5" name="Group 63"/>
          <p:cNvGrpSpPr/>
          <p:nvPr/>
        </p:nvGrpSpPr>
        <p:grpSpPr>
          <a:xfrm>
            <a:off x="4643438" y="763588"/>
            <a:ext cx="1728787" cy="1296987"/>
            <a:chOff x="3152" y="708"/>
            <a:chExt cx="1089" cy="817"/>
          </a:xfrm>
        </p:grpSpPr>
        <p:sp>
          <p:nvSpPr>
            <p:cNvPr id="21663" name="Oval 44"/>
            <p:cNvSpPr/>
            <p:nvPr/>
          </p:nvSpPr>
          <p:spPr>
            <a:xfrm>
              <a:off x="3833" y="70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4" name="Oval 45"/>
            <p:cNvSpPr/>
            <p:nvPr/>
          </p:nvSpPr>
          <p:spPr>
            <a:xfrm>
              <a:off x="3515" y="116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5" name="Oval 46"/>
            <p:cNvSpPr/>
            <p:nvPr/>
          </p:nvSpPr>
          <p:spPr>
            <a:xfrm>
              <a:off x="4015" y="93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6" name="Oval 47"/>
            <p:cNvSpPr/>
            <p:nvPr/>
          </p:nvSpPr>
          <p:spPr>
            <a:xfrm>
              <a:off x="3424" y="138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3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7" name="Oval 48"/>
            <p:cNvSpPr/>
            <p:nvPr/>
          </p:nvSpPr>
          <p:spPr>
            <a:xfrm>
              <a:off x="3606" y="93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8" name="Oval 49"/>
            <p:cNvSpPr/>
            <p:nvPr/>
          </p:nvSpPr>
          <p:spPr>
            <a:xfrm>
              <a:off x="3606" y="138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69" name="Oval 50"/>
            <p:cNvSpPr/>
            <p:nvPr/>
          </p:nvSpPr>
          <p:spPr>
            <a:xfrm>
              <a:off x="3696" y="116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70" name="Oval 51"/>
            <p:cNvSpPr/>
            <p:nvPr/>
          </p:nvSpPr>
          <p:spPr>
            <a:xfrm>
              <a:off x="3924" y="116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71" name="Oval 52"/>
            <p:cNvSpPr/>
            <p:nvPr/>
          </p:nvSpPr>
          <p:spPr>
            <a:xfrm>
              <a:off x="4105" y="116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72" name="Line 53"/>
            <p:cNvSpPr/>
            <p:nvPr/>
          </p:nvSpPr>
          <p:spPr>
            <a:xfrm flipH="1">
              <a:off x="3606" y="1071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3" name="Line 54"/>
            <p:cNvSpPr/>
            <p:nvPr/>
          </p:nvSpPr>
          <p:spPr>
            <a:xfrm>
              <a:off x="3696" y="1071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4" name="Line 55"/>
            <p:cNvSpPr/>
            <p:nvPr/>
          </p:nvSpPr>
          <p:spPr>
            <a:xfrm flipH="1">
              <a:off x="3515" y="1298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5" name="Line 56"/>
            <p:cNvSpPr/>
            <p:nvPr/>
          </p:nvSpPr>
          <p:spPr>
            <a:xfrm>
              <a:off x="3606" y="1298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6" name="Line 57"/>
            <p:cNvSpPr/>
            <p:nvPr/>
          </p:nvSpPr>
          <p:spPr>
            <a:xfrm flipH="1">
              <a:off x="4015" y="107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7" name="Line 58"/>
            <p:cNvSpPr/>
            <p:nvPr/>
          </p:nvSpPr>
          <p:spPr>
            <a:xfrm>
              <a:off x="4105" y="1071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8" name="Line 59"/>
            <p:cNvSpPr/>
            <p:nvPr/>
          </p:nvSpPr>
          <p:spPr>
            <a:xfrm flipH="1">
              <a:off x="3697" y="844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79" name="Line 60"/>
            <p:cNvSpPr/>
            <p:nvPr/>
          </p:nvSpPr>
          <p:spPr>
            <a:xfrm>
              <a:off x="3924" y="844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80" name="AutoShape 61"/>
            <p:cNvSpPr/>
            <p:nvPr/>
          </p:nvSpPr>
          <p:spPr>
            <a:xfrm>
              <a:off x="3152" y="1071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6" name="Group 64"/>
          <p:cNvGrpSpPr/>
          <p:nvPr/>
        </p:nvGrpSpPr>
        <p:grpSpPr>
          <a:xfrm>
            <a:off x="6659563" y="763588"/>
            <a:ext cx="1728787" cy="1296987"/>
            <a:chOff x="3152" y="708"/>
            <a:chExt cx="1089" cy="817"/>
          </a:xfrm>
        </p:grpSpPr>
        <p:sp>
          <p:nvSpPr>
            <p:cNvPr id="21645" name="Oval 65"/>
            <p:cNvSpPr/>
            <p:nvPr/>
          </p:nvSpPr>
          <p:spPr>
            <a:xfrm>
              <a:off x="3833" y="70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46" name="Oval 66"/>
            <p:cNvSpPr/>
            <p:nvPr/>
          </p:nvSpPr>
          <p:spPr>
            <a:xfrm>
              <a:off x="3515" y="116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47" name="Oval 67"/>
            <p:cNvSpPr/>
            <p:nvPr/>
          </p:nvSpPr>
          <p:spPr>
            <a:xfrm>
              <a:off x="4015" y="93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48" name="Oval 68"/>
            <p:cNvSpPr/>
            <p:nvPr/>
          </p:nvSpPr>
          <p:spPr>
            <a:xfrm>
              <a:off x="3424" y="138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3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49" name="Oval 69"/>
            <p:cNvSpPr/>
            <p:nvPr/>
          </p:nvSpPr>
          <p:spPr>
            <a:xfrm>
              <a:off x="3606" y="93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50" name="Oval 70"/>
            <p:cNvSpPr/>
            <p:nvPr/>
          </p:nvSpPr>
          <p:spPr>
            <a:xfrm>
              <a:off x="3606" y="1389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51" name="Oval 71"/>
            <p:cNvSpPr/>
            <p:nvPr/>
          </p:nvSpPr>
          <p:spPr>
            <a:xfrm>
              <a:off x="3696" y="116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52" name="Oval 72"/>
            <p:cNvSpPr/>
            <p:nvPr/>
          </p:nvSpPr>
          <p:spPr>
            <a:xfrm>
              <a:off x="3924" y="116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53" name="Oval 73"/>
            <p:cNvSpPr/>
            <p:nvPr/>
          </p:nvSpPr>
          <p:spPr>
            <a:xfrm>
              <a:off x="4105" y="116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54" name="Line 74"/>
            <p:cNvSpPr/>
            <p:nvPr/>
          </p:nvSpPr>
          <p:spPr>
            <a:xfrm flipH="1">
              <a:off x="3606" y="1071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55" name="Line 75"/>
            <p:cNvSpPr/>
            <p:nvPr/>
          </p:nvSpPr>
          <p:spPr>
            <a:xfrm>
              <a:off x="3696" y="1071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56" name="Line 76"/>
            <p:cNvSpPr/>
            <p:nvPr/>
          </p:nvSpPr>
          <p:spPr>
            <a:xfrm flipH="1">
              <a:off x="3515" y="1298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57" name="Line 77"/>
            <p:cNvSpPr/>
            <p:nvPr/>
          </p:nvSpPr>
          <p:spPr>
            <a:xfrm>
              <a:off x="3606" y="1298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58" name="Line 78"/>
            <p:cNvSpPr/>
            <p:nvPr/>
          </p:nvSpPr>
          <p:spPr>
            <a:xfrm flipH="1">
              <a:off x="4015" y="107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59" name="Line 79"/>
            <p:cNvSpPr/>
            <p:nvPr/>
          </p:nvSpPr>
          <p:spPr>
            <a:xfrm>
              <a:off x="4105" y="1071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60" name="Line 80"/>
            <p:cNvSpPr/>
            <p:nvPr/>
          </p:nvSpPr>
          <p:spPr>
            <a:xfrm flipH="1">
              <a:off x="3697" y="844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61" name="Line 81"/>
            <p:cNvSpPr/>
            <p:nvPr/>
          </p:nvSpPr>
          <p:spPr>
            <a:xfrm>
              <a:off x="3924" y="844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62" name="AutoShape 82"/>
            <p:cNvSpPr/>
            <p:nvPr/>
          </p:nvSpPr>
          <p:spPr>
            <a:xfrm>
              <a:off x="3152" y="1071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7" name="Group 123"/>
          <p:cNvGrpSpPr/>
          <p:nvPr/>
        </p:nvGrpSpPr>
        <p:grpSpPr>
          <a:xfrm>
            <a:off x="1116013" y="2635250"/>
            <a:ext cx="1152525" cy="1296988"/>
            <a:chOff x="748" y="1797"/>
            <a:chExt cx="726" cy="817"/>
          </a:xfrm>
        </p:grpSpPr>
        <p:sp>
          <p:nvSpPr>
            <p:cNvPr id="21630" name="Oval 84"/>
            <p:cNvSpPr/>
            <p:nvPr/>
          </p:nvSpPr>
          <p:spPr>
            <a:xfrm>
              <a:off x="1066" y="179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1" name="Oval 85"/>
            <p:cNvSpPr/>
            <p:nvPr/>
          </p:nvSpPr>
          <p:spPr>
            <a:xfrm>
              <a:off x="748" y="225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2" name="Oval 86"/>
            <p:cNvSpPr/>
            <p:nvPr/>
          </p:nvSpPr>
          <p:spPr>
            <a:xfrm>
              <a:off x="1248" y="202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3" name="Oval 88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4" name="Oval 89"/>
            <p:cNvSpPr/>
            <p:nvPr/>
          </p:nvSpPr>
          <p:spPr>
            <a:xfrm>
              <a:off x="839" y="2478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5" name="Oval 90"/>
            <p:cNvSpPr/>
            <p:nvPr/>
          </p:nvSpPr>
          <p:spPr>
            <a:xfrm>
              <a:off x="929" y="225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6" name="Oval 91"/>
            <p:cNvSpPr/>
            <p:nvPr/>
          </p:nvSpPr>
          <p:spPr>
            <a:xfrm>
              <a:off x="1157" y="225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7" name="Oval 92"/>
            <p:cNvSpPr/>
            <p:nvPr/>
          </p:nvSpPr>
          <p:spPr>
            <a:xfrm>
              <a:off x="1338" y="2251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38" name="Line 93"/>
            <p:cNvSpPr/>
            <p:nvPr/>
          </p:nvSpPr>
          <p:spPr>
            <a:xfrm flipH="1">
              <a:off x="839" y="2160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39" name="Line 94"/>
            <p:cNvSpPr/>
            <p:nvPr/>
          </p:nvSpPr>
          <p:spPr>
            <a:xfrm>
              <a:off x="929" y="2160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40" name="Line 96"/>
            <p:cNvSpPr/>
            <p:nvPr/>
          </p:nvSpPr>
          <p:spPr>
            <a:xfrm>
              <a:off x="839" y="2387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41" name="Line 97"/>
            <p:cNvSpPr/>
            <p:nvPr/>
          </p:nvSpPr>
          <p:spPr>
            <a:xfrm flipH="1">
              <a:off x="1248" y="2160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42" name="Line 98"/>
            <p:cNvSpPr/>
            <p:nvPr/>
          </p:nvSpPr>
          <p:spPr>
            <a:xfrm>
              <a:off x="1338" y="2160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43" name="Line 99"/>
            <p:cNvSpPr/>
            <p:nvPr/>
          </p:nvSpPr>
          <p:spPr>
            <a:xfrm flipH="1">
              <a:off x="930" y="1933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44" name="Line 100"/>
            <p:cNvSpPr/>
            <p:nvPr/>
          </p:nvSpPr>
          <p:spPr>
            <a:xfrm>
              <a:off x="1157" y="1933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6294" name="Oval 102"/>
          <p:cNvSpPr/>
          <p:nvPr/>
        </p:nvSpPr>
        <p:spPr>
          <a:xfrm>
            <a:off x="7235825" y="1484313"/>
            <a:ext cx="215900" cy="215900"/>
          </a:xfrm>
          <a:prstGeom prst="ellipse">
            <a:avLst/>
          </a:prstGeom>
          <a:solidFill>
            <a:schemeClr val="tx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b="1">
                <a:solidFill>
                  <a:srgbClr val="FFFFFF"/>
                </a:solidFill>
              </a:rPr>
              <a:t>5</a:t>
            </a:r>
            <a:endParaRPr lang="en-US" altLang="zh-CN" sz="1400" b="1">
              <a:solidFill>
                <a:srgbClr val="FFFFFF"/>
              </a:solidFill>
            </a:endParaRPr>
          </a:p>
        </p:txBody>
      </p:sp>
      <p:grpSp>
        <p:nvGrpSpPr>
          <p:cNvPr id="8" name="Group 124"/>
          <p:cNvGrpSpPr/>
          <p:nvPr/>
        </p:nvGrpSpPr>
        <p:grpSpPr>
          <a:xfrm>
            <a:off x="2555875" y="2635250"/>
            <a:ext cx="1728788" cy="1296988"/>
            <a:chOff x="2472" y="1933"/>
            <a:chExt cx="1089" cy="817"/>
          </a:xfrm>
        </p:grpSpPr>
        <p:sp>
          <p:nvSpPr>
            <p:cNvPr id="21614" name="Oval 103"/>
            <p:cNvSpPr/>
            <p:nvPr/>
          </p:nvSpPr>
          <p:spPr>
            <a:xfrm>
              <a:off x="3153" y="193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15" name="Oval 104"/>
            <p:cNvSpPr/>
            <p:nvPr/>
          </p:nvSpPr>
          <p:spPr>
            <a:xfrm>
              <a:off x="2835" y="2387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16" name="Oval 105"/>
            <p:cNvSpPr/>
            <p:nvPr/>
          </p:nvSpPr>
          <p:spPr>
            <a:xfrm>
              <a:off x="3335" y="216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17" name="Oval 107"/>
            <p:cNvSpPr/>
            <p:nvPr/>
          </p:nvSpPr>
          <p:spPr>
            <a:xfrm>
              <a:off x="2926" y="216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18" name="Oval 108"/>
            <p:cNvSpPr/>
            <p:nvPr/>
          </p:nvSpPr>
          <p:spPr>
            <a:xfrm>
              <a:off x="2926" y="2614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19" name="Oval 109"/>
            <p:cNvSpPr/>
            <p:nvPr/>
          </p:nvSpPr>
          <p:spPr>
            <a:xfrm>
              <a:off x="3016" y="23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20" name="Oval 110"/>
            <p:cNvSpPr/>
            <p:nvPr/>
          </p:nvSpPr>
          <p:spPr>
            <a:xfrm>
              <a:off x="3244" y="238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21" name="Oval 111"/>
            <p:cNvSpPr/>
            <p:nvPr/>
          </p:nvSpPr>
          <p:spPr>
            <a:xfrm>
              <a:off x="3425" y="238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22" name="Line 112"/>
            <p:cNvSpPr/>
            <p:nvPr/>
          </p:nvSpPr>
          <p:spPr>
            <a:xfrm flipH="1">
              <a:off x="2926" y="2296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3" name="Line 113"/>
            <p:cNvSpPr/>
            <p:nvPr/>
          </p:nvSpPr>
          <p:spPr>
            <a:xfrm>
              <a:off x="3016" y="2296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4" name="Line 115"/>
            <p:cNvSpPr/>
            <p:nvPr/>
          </p:nvSpPr>
          <p:spPr>
            <a:xfrm>
              <a:off x="2926" y="2523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5" name="Line 116"/>
            <p:cNvSpPr/>
            <p:nvPr/>
          </p:nvSpPr>
          <p:spPr>
            <a:xfrm flipH="1">
              <a:off x="3335" y="2296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6" name="Line 117"/>
            <p:cNvSpPr/>
            <p:nvPr/>
          </p:nvSpPr>
          <p:spPr>
            <a:xfrm>
              <a:off x="3425" y="2296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7" name="Line 118"/>
            <p:cNvSpPr/>
            <p:nvPr/>
          </p:nvSpPr>
          <p:spPr>
            <a:xfrm flipH="1">
              <a:off x="3017" y="2069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8" name="Line 119"/>
            <p:cNvSpPr/>
            <p:nvPr/>
          </p:nvSpPr>
          <p:spPr>
            <a:xfrm>
              <a:off x="3244" y="2069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29" name="AutoShape 120"/>
            <p:cNvSpPr/>
            <p:nvPr/>
          </p:nvSpPr>
          <p:spPr>
            <a:xfrm>
              <a:off x="2472" y="2296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sp>
        <p:nvSpPr>
          <p:cNvPr id="136314" name="Rectangle 122"/>
          <p:cNvSpPr/>
          <p:nvPr/>
        </p:nvSpPr>
        <p:spPr>
          <a:xfrm>
            <a:off x="2244725" y="3246438"/>
            <a:ext cx="311150" cy="39687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>
                <a:solidFill>
                  <a:schemeClr val="hlink"/>
                </a:solidFill>
              </a:rPr>
              <a:t>x</a:t>
            </a:r>
            <a:endParaRPr lang="en-US" altLang="zh-CN" sz="2000" b="1" i="1">
              <a:solidFill>
                <a:schemeClr val="hlink"/>
              </a:solidFill>
            </a:endParaRPr>
          </a:p>
        </p:txBody>
      </p:sp>
      <p:grpSp>
        <p:nvGrpSpPr>
          <p:cNvPr id="9" name="Group 125"/>
          <p:cNvGrpSpPr/>
          <p:nvPr/>
        </p:nvGrpSpPr>
        <p:grpSpPr>
          <a:xfrm>
            <a:off x="4500563" y="2635250"/>
            <a:ext cx="1728787" cy="1296988"/>
            <a:chOff x="2472" y="1933"/>
            <a:chExt cx="1089" cy="817"/>
          </a:xfrm>
        </p:grpSpPr>
        <p:sp>
          <p:nvSpPr>
            <p:cNvPr id="21598" name="Oval 126"/>
            <p:cNvSpPr/>
            <p:nvPr/>
          </p:nvSpPr>
          <p:spPr>
            <a:xfrm>
              <a:off x="3153" y="193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99" name="Oval 127"/>
            <p:cNvSpPr/>
            <p:nvPr/>
          </p:nvSpPr>
          <p:spPr>
            <a:xfrm>
              <a:off x="2835" y="2387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0" name="Oval 128"/>
            <p:cNvSpPr/>
            <p:nvPr/>
          </p:nvSpPr>
          <p:spPr>
            <a:xfrm>
              <a:off x="3335" y="216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1" name="Oval 129"/>
            <p:cNvSpPr/>
            <p:nvPr/>
          </p:nvSpPr>
          <p:spPr>
            <a:xfrm>
              <a:off x="2926" y="216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2" name="Oval 130"/>
            <p:cNvSpPr/>
            <p:nvPr/>
          </p:nvSpPr>
          <p:spPr>
            <a:xfrm>
              <a:off x="2926" y="2614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3" name="Oval 131"/>
            <p:cNvSpPr/>
            <p:nvPr/>
          </p:nvSpPr>
          <p:spPr>
            <a:xfrm>
              <a:off x="3016" y="23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4" name="Oval 132"/>
            <p:cNvSpPr/>
            <p:nvPr/>
          </p:nvSpPr>
          <p:spPr>
            <a:xfrm>
              <a:off x="3244" y="238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5" name="Oval 133"/>
            <p:cNvSpPr/>
            <p:nvPr/>
          </p:nvSpPr>
          <p:spPr>
            <a:xfrm>
              <a:off x="3425" y="238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606" name="Line 134"/>
            <p:cNvSpPr/>
            <p:nvPr/>
          </p:nvSpPr>
          <p:spPr>
            <a:xfrm flipH="1">
              <a:off x="2926" y="2296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7" name="Line 135"/>
            <p:cNvSpPr/>
            <p:nvPr/>
          </p:nvSpPr>
          <p:spPr>
            <a:xfrm>
              <a:off x="3016" y="2296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8" name="Line 136"/>
            <p:cNvSpPr/>
            <p:nvPr/>
          </p:nvSpPr>
          <p:spPr>
            <a:xfrm>
              <a:off x="2926" y="2523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9" name="Line 137"/>
            <p:cNvSpPr/>
            <p:nvPr/>
          </p:nvSpPr>
          <p:spPr>
            <a:xfrm flipH="1">
              <a:off x="3335" y="2296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0" name="Line 138"/>
            <p:cNvSpPr/>
            <p:nvPr/>
          </p:nvSpPr>
          <p:spPr>
            <a:xfrm>
              <a:off x="3425" y="2296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1" name="Line 139"/>
            <p:cNvSpPr/>
            <p:nvPr/>
          </p:nvSpPr>
          <p:spPr>
            <a:xfrm flipH="1">
              <a:off x="3017" y="2069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2" name="Line 140"/>
            <p:cNvSpPr/>
            <p:nvPr/>
          </p:nvSpPr>
          <p:spPr>
            <a:xfrm>
              <a:off x="3244" y="2069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3" name="AutoShape 141"/>
            <p:cNvSpPr/>
            <p:nvPr/>
          </p:nvSpPr>
          <p:spPr>
            <a:xfrm>
              <a:off x="2472" y="2296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10" name="Group 191"/>
          <p:cNvGrpSpPr/>
          <p:nvPr/>
        </p:nvGrpSpPr>
        <p:grpSpPr>
          <a:xfrm>
            <a:off x="755650" y="4219575"/>
            <a:ext cx="1009650" cy="1296988"/>
            <a:chOff x="658" y="2840"/>
            <a:chExt cx="636" cy="817"/>
          </a:xfrm>
        </p:grpSpPr>
        <p:sp>
          <p:nvSpPr>
            <p:cNvPr id="21585" name="Oval 161"/>
            <p:cNvSpPr/>
            <p:nvPr/>
          </p:nvSpPr>
          <p:spPr>
            <a:xfrm>
              <a:off x="976" y="2840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86" name="Oval 162"/>
            <p:cNvSpPr/>
            <p:nvPr/>
          </p:nvSpPr>
          <p:spPr>
            <a:xfrm>
              <a:off x="658" y="3294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87" name="Oval 163"/>
            <p:cNvSpPr/>
            <p:nvPr/>
          </p:nvSpPr>
          <p:spPr>
            <a:xfrm>
              <a:off x="1158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88" name="Oval 164"/>
            <p:cNvSpPr/>
            <p:nvPr/>
          </p:nvSpPr>
          <p:spPr>
            <a:xfrm>
              <a:off x="749" y="3067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89" name="Oval 165"/>
            <p:cNvSpPr/>
            <p:nvPr/>
          </p:nvSpPr>
          <p:spPr>
            <a:xfrm>
              <a:off x="749" y="3521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90" name="Oval 166"/>
            <p:cNvSpPr/>
            <p:nvPr/>
          </p:nvSpPr>
          <p:spPr>
            <a:xfrm>
              <a:off x="839" y="329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91" name="Oval 167"/>
            <p:cNvSpPr/>
            <p:nvPr/>
          </p:nvSpPr>
          <p:spPr>
            <a:xfrm>
              <a:off x="1067" y="3294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92" name="Line 168"/>
            <p:cNvSpPr/>
            <p:nvPr/>
          </p:nvSpPr>
          <p:spPr>
            <a:xfrm flipH="1">
              <a:off x="749" y="3203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93" name="Line 169"/>
            <p:cNvSpPr/>
            <p:nvPr/>
          </p:nvSpPr>
          <p:spPr>
            <a:xfrm>
              <a:off x="839" y="3203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94" name="Line 170"/>
            <p:cNvSpPr/>
            <p:nvPr/>
          </p:nvSpPr>
          <p:spPr>
            <a:xfrm>
              <a:off x="749" y="3430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95" name="Line 171"/>
            <p:cNvSpPr/>
            <p:nvPr/>
          </p:nvSpPr>
          <p:spPr>
            <a:xfrm flipH="1">
              <a:off x="1158" y="3203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96" name="Line 172"/>
            <p:cNvSpPr/>
            <p:nvPr/>
          </p:nvSpPr>
          <p:spPr>
            <a:xfrm flipH="1">
              <a:off x="840" y="2976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97" name="Line 173"/>
            <p:cNvSpPr/>
            <p:nvPr/>
          </p:nvSpPr>
          <p:spPr>
            <a:xfrm>
              <a:off x="1067" y="2976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6367" name="Rectangle 175"/>
          <p:cNvSpPr/>
          <p:nvPr/>
        </p:nvSpPr>
        <p:spPr>
          <a:xfrm>
            <a:off x="1114425" y="4940300"/>
            <a:ext cx="311150" cy="39687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>
                <a:solidFill>
                  <a:schemeClr val="hlink"/>
                </a:solidFill>
              </a:rPr>
              <a:t>x</a:t>
            </a:r>
            <a:endParaRPr lang="en-US" altLang="zh-CN" sz="2000" b="1" i="1">
              <a:solidFill>
                <a:schemeClr val="hlink"/>
              </a:solidFill>
            </a:endParaRPr>
          </a:p>
        </p:txBody>
      </p:sp>
      <p:grpSp>
        <p:nvGrpSpPr>
          <p:cNvPr id="11" name="Group 192"/>
          <p:cNvGrpSpPr/>
          <p:nvPr/>
        </p:nvGrpSpPr>
        <p:grpSpPr>
          <a:xfrm>
            <a:off x="1906588" y="4219575"/>
            <a:ext cx="1585912" cy="1296988"/>
            <a:chOff x="1429" y="2886"/>
            <a:chExt cx="999" cy="817"/>
          </a:xfrm>
        </p:grpSpPr>
        <p:sp>
          <p:nvSpPr>
            <p:cNvPr id="21571" name="Oval 177"/>
            <p:cNvSpPr/>
            <p:nvPr/>
          </p:nvSpPr>
          <p:spPr>
            <a:xfrm>
              <a:off x="2110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2" name="Oval 178"/>
            <p:cNvSpPr/>
            <p:nvPr/>
          </p:nvSpPr>
          <p:spPr>
            <a:xfrm>
              <a:off x="1792" y="334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3" name="Oval 179"/>
            <p:cNvSpPr/>
            <p:nvPr/>
          </p:nvSpPr>
          <p:spPr>
            <a:xfrm>
              <a:off x="2292" y="311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4" name="Oval 180"/>
            <p:cNvSpPr/>
            <p:nvPr/>
          </p:nvSpPr>
          <p:spPr>
            <a:xfrm>
              <a:off x="1883" y="311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5" name="Oval 181"/>
            <p:cNvSpPr/>
            <p:nvPr/>
          </p:nvSpPr>
          <p:spPr>
            <a:xfrm>
              <a:off x="1883" y="356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6" name="Oval 182"/>
            <p:cNvSpPr/>
            <p:nvPr/>
          </p:nvSpPr>
          <p:spPr>
            <a:xfrm>
              <a:off x="1973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7" name="Oval 183"/>
            <p:cNvSpPr/>
            <p:nvPr/>
          </p:nvSpPr>
          <p:spPr>
            <a:xfrm>
              <a:off x="2201" y="334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78" name="Line 184"/>
            <p:cNvSpPr/>
            <p:nvPr/>
          </p:nvSpPr>
          <p:spPr>
            <a:xfrm flipH="1">
              <a:off x="1883" y="3249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79" name="Line 185"/>
            <p:cNvSpPr/>
            <p:nvPr/>
          </p:nvSpPr>
          <p:spPr>
            <a:xfrm>
              <a:off x="1973" y="3249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80" name="Line 186"/>
            <p:cNvSpPr/>
            <p:nvPr/>
          </p:nvSpPr>
          <p:spPr>
            <a:xfrm>
              <a:off x="1883" y="3476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81" name="Line 187"/>
            <p:cNvSpPr/>
            <p:nvPr/>
          </p:nvSpPr>
          <p:spPr>
            <a:xfrm flipH="1">
              <a:off x="2292" y="3249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82" name="Line 188"/>
            <p:cNvSpPr/>
            <p:nvPr/>
          </p:nvSpPr>
          <p:spPr>
            <a:xfrm flipH="1">
              <a:off x="1974" y="3022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83" name="Line 189"/>
            <p:cNvSpPr/>
            <p:nvPr/>
          </p:nvSpPr>
          <p:spPr>
            <a:xfrm>
              <a:off x="2201" y="3022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84" name="AutoShape 190"/>
            <p:cNvSpPr/>
            <p:nvPr/>
          </p:nvSpPr>
          <p:spPr>
            <a:xfrm>
              <a:off x="1429" y="3249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12" name="Group 208"/>
          <p:cNvGrpSpPr/>
          <p:nvPr/>
        </p:nvGrpSpPr>
        <p:grpSpPr>
          <a:xfrm>
            <a:off x="3635375" y="4219575"/>
            <a:ext cx="1585913" cy="1295400"/>
            <a:chOff x="2925" y="2886"/>
            <a:chExt cx="999" cy="816"/>
          </a:xfrm>
        </p:grpSpPr>
        <p:sp>
          <p:nvSpPr>
            <p:cNvPr id="21557" name="Oval 194"/>
            <p:cNvSpPr/>
            <p:nvPr/>
          </p:nvSpPr>
          <p:spPr>
            <a:xfrm>
              <a:off x="3606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58" name="Oval 195"/>
            <p:cNvSpPr/>
            <p:nvPr/>
          </p:nvSpPr>
          <p:spPr>
            <a:xfrm>
              <a:off x="3198" y="3566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59" name="Oval 196"/>
            <p:cNvSpPr/>
            <p:nvPr/>
          </p:nvSpPr>
          <p:spPr>
            <a:xfrm>
              <a:off x="3788" y="311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60" name="Oval 197"/>
            <p:cNvSpPr/>
            <p:nvPr/>
          </p:nvSpPr>
          <p:spPr>
            <a:xfrm>
              <a:off x="3379" y="3113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61" name="Oval 198"/>
            <p:cNvSpPr/>
            <p:nvPr/>
          </p:nvSpPr>
          <p:spPr>
            <a:xfrm>
              <a:off x="3288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62" name="Oval 199"/>
            <p:cNvSpPr/>
            <p:nvPr/>
          </p:nvSpPr>
          <p:spPr>
            <a:xfrm>
              <a:off x="3469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63" name="Oval 200"/>
            <p:cNvSpPr/>
            <p:nvPr/>
          </p:nvSpPr>
          <p:spPr>
            <a:xfrm>
              <a:off x="3697" y="334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64" name="Line 201"/>
            <p:cNvSpPr/>
            <p:nvPr/>
          </p:nvSpPr>
          <p:spPr>
            <a:xfrm flipH="1">
              <a:off x="3379" y="3249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65" name="Line 202"/>
            <p:cNvSpPr/>
            <p:nvPr/>
          </p:nvSpPr>
          <p:spPr>
            <a:xfrm>
              <a:off x="3469" y="3249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66" name="Line 203"/>
            <p:cNvSpPr/>
            <p:nvPr/>
          </p:nvSpPr>
          <p:spPr>
            <a:xfrm flipH="1">
              <a:off x="3288" y="3475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67" name="Line 204"/>
            <p:cNvSpPr/>
            <p:nvPr/>
          </p:nvSpPr>
          <p:spPr>
            <a:xfrm flipH="1">
              <a:off x="3788" y="3249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68" name="Line 205"/>
            <p:cNvSpPr/>
            <p:nvPr/>
          </p:nvSpPr>
          <p:spPr>
            <a:xfrm flipH="1">
              <a:off x="3470" y="3022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69" name="Line 206"/>
            <p:cNvSpPr/>
            <p:nvPr/>
          </p:nvSpPr>
          <p:spPr>
            <a:xfrm>
              <a:off x="3697" y="3022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70" name="AutoShape 207"/>
            <p:cNvSpPr/>
            <p:nvPr/>
          </p:nvSpPr>
          <p:spPr>
            <a:xfrm>
              <a:off x="2925" y="3249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13" name="Group 209"/>
          <p:cNvGrpSpPr/>
          <p:nvPr/>
        </p:nvGrpSpPr>
        <p:grpSpPr>
          <a:xfrm>
            <a:off x="5364163" y="4219575"/>
            <a:ext cx="1585912" cy="1295400"/>
            <a:chOff x="2925" y="2886"/>
            <a:chExt cx="999" cy="816"/>
          </a:xfrm>
        </p:grpSpPr>
        <p:sp>
          <p:nvSpPr>
            <p:cNvPr id="21543" name="Oval 210"/>
            <p:cNvSpPr/>
            <p:nvPr/>
          </p:nvSpPr>
          <p:spPr>
            <a:xfrm>
              <a:off x="3606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4" name="Oval 211"/>
            <p:cNvSpPr/>
            <p:nvPr/>
          </p:nvSpPr>
          <p:spPr>
            <a:xfrm>
              <a:off x="3198" y="3566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5" name="Oval 212"/>
            <p:cNvSpPr/>
            <p:nvPr/>
          </p:nvSpPr>
          <p:spPr>
            <a:xfrm>
              <a:off x="3788" y="3113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6" name="Oval 213"/>
            <p:cNvSpPr/>
            <p:nvPr/>
          </p:nvSpPr>
          <p:spPr>
            <a:xfrm>
              <a:off x="3379" y="3113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7" name="Oval 214"/>
            <p:cNvSpPr/>
            <p:nvPr/>
          </p:nvSpPr>
          <p:spPr>
            <a:xfrm>
              <a:off x="3288" y="3339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8" name="Oval 215"/>
            <p:cNvSpPr/>
            <p:nvPr/>
          </p:nvSpPr>
          <p:spPr>
            <a:xfrm>
              <a:off x="3469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49" name="Oval 216"/>
            <p:cNvSpPr/>
            <p:nvPr/>
          </p:nvSpPr>
          <p:spPr>
            <a:xfrm>
              <a:off x="3697" y="3340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50" name="Line 217"/>
            <p:cNvSpPr/>
            <p:nvPr/>
          </p:nvSpPr>
          <p:spPr>
            <a:xfrm flipH="1">
              <a:off x="3379" y="3249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1" name="Line 218"/>
            <p:cNvSpPr/>
            <p:nvPr/>
          </p:nvSpPr>
          <p:spPr>
            <a:xfrm>
              <a:off x="3469" y="3249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2" name="Line 219"/>
            <p:cNvSpPr/>
            <p:nvPr/>
          </p:nvSpPr>
          <p:spPr>
            <a:xfrm flipH="1">
              <a:off x="3288" y="3475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3" name="Line 220"/>
            <p:cNvSpPr/>
            <p:nvPr/>
          </p:nvSpPr>
          <p:spPr>
            <a:xfrm flipH="1">
              <a:off x="3788" y="3249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4" name="Line 221"/>
            <p:cNvSpPr/>
            <p:nvPr/>
          </p:nvSpPr>
          <p:spPr>
            <a:xfrm flipH="1">
              <a:off x="3470" y="3022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5" name="Line 222"/>
            <p:cNvSpPr/>
            <p:nvPr/>
          </p:nvSpPr>
          <p:spPr>
            <a:xfrm>
              <a:off x="3697" y="3022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6" name="AutoShape 223"/>
            <p:cNvSpPr/>
            <p:nvPr/>
          </p:nvSpPr>
          <p:spPr>
            <a:xfrm>
              <a:off x="2925" y="3249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</p:grpSp>
      <p:grpSp>
        <p:nvGrpSpPr>
          <p:cNvPr id="14" name="Group 240"/>
          <p:cNvGrpSpPr/>
          <p:nvPr/>
        </p:nvGrpSpPr>
        <p:grpSpPr>
          <a:xfrm>
            <a:off x="7164388" y="4219575"/>
            <a:ext cx="1585912" cy="1293813"/>
            <a:chOff x="4241" y="1888"/>
            <a:chExt cx="999" cy="815"/>
          </a:xfrm>
        </p:grpSpPr>
        <p:sp>
          <p:nvSpPr>
            <p:cNvPr id="21529" name="Oval 225"/>
            <p:cNvSpPr/>
            <p:nvPr/>
          </p:nvSpPr>
          <p:spPr>
            <a:xfrm>
              <a:off x="4922" y="1888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10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0" name="Oval 226"/>
            <p:cNvSpPr/>
            <p:nvPr/>
          </p:nvSpPr>
          <p:spPr>
            <a:xfrm>
              <a:off x="4604" y="2342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1" name="Oval 227"/>
            <p:cNvSpPr/>
            <p:nvPr/>
          </p:nvSpPr>
          <p:spPr>
            <a:xfrm>
              <a:off x="5104" y="2115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15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2" name="Oval 228"/>
            <p:cNvSpPr/>
            <p:nvPr/>
          </p:nvSpPr>
          <p:spPr>
            <a:xfrm>
              <a:off x="4785" y="2341"/>
              <a:ext cx="136" cy="136"/>
            </a:xfrm>
            <a:prstGeom prst="ellipse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7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3" name="Oval 229"/>
            <p:cNvSpPr/>
            <p:nvPr/>
          </p:nvSpPr>
          <p:spPr>
            <a:xfrm>
              <a:off x="4694" y="2115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6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4" name="Oval 230"/>
            <p:cNvSpPr/>
            <p:nvPr/>
          </p:nvSpPr>
          <p:spPr>
            <a:xfrm>
              <a:off x="4875" y="2567"/>
              <a:ext cx="136" cy="13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8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5" name="Oval 231"/>
            <p:cNvSpPr/>
            <p:nvPr/>
          </p:nvSpPr>
          <p:spPr>
            <a:xfrm>
              <a:off x="5013" y="2342"/>
              <a:ext cx="136" cy="1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>
                  <a:solidFill>
                    <a:srgbClr val="FFFFFF"/>
                  </a:solidFill>
                </a:rPr>
                <a:t>11</a:t>
              </a:r>
              <a:endParaRPr lang="en-US" altLang="zh-CN" sz="1400" b="1">
                <a:solidFill>
                  <a:srgbClr val="FFFFFF"/>
                </a:solidFill>
              </a:endParaRPr>
            </a:p>
          </p:txBody>
        </p:sp>
        <p:sp>
          <p:nvSpPr>
            <p:cNvPr id="21536" name="Line 233"/>
            <p:cNvSpPr/>
            <p:nvPr/>
          </p:nvSpPr>
          <p:spPr>
            <a:xfrm>
              <a:off x="4875" y="2477"/>
              <a:ext cx="46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7" name="Line 234"/>
            <p:cNvSpPr/>
            <p:nvPr/>
          </p:nvSpPr>
          <p:spPr>
            <a:xfrm flipH="1">
              <a:off x="4694" y="2251"/>
              <a:ext cx="4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8" name="Line 235"/>
            <p:cNvSpPr/>
            <p:nvPr/>
          </p:nvSpPr>
          <p:spPr>
            <a:xfrm flipH="1">
              <a:off x="5104" y="2251"/>
              <a:ext cx="45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9" name="Line 236"/>
            <p:cNvSpPr/>
            <p:nvPr/>
          </p:nvSpPr>
          <p:spPr>
            <a:xfrm flipH="1">
              <a:off x="4786" y="2024"/>
              <a:ext cx="181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0" name="Line 237"/>
            <p:cNvSpPr/>
            <p:nvPr/>
          </p:nvSpPr>
          <p:spPr>
            <a:xfrm>
              <a:off x="5013" y="2024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1" name="AutoShape 238"/>
            <p:cNvSpPr/>
            <p:nvPr/>
          </p:nvSpPr>
          <p:spPr>
            <a:xfrm>
              <a:off x="4241" y="2251"/>
              <a:ext cx="227" cy="91"/>
            </a:xfrm>
            <a:prstGeom prst="rightArrow">
              <a:avLst>
                <a:gd name="adj1" fmla="val 50000"/>
                <a:gd name="adj2" fmla="val 62362"/>
              </a:avLst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1542" name="Line 239"/>
            <p:cNvSpPr/>
            <p:nvPr/>
          </p:nvSpPr>
          <p:spPr>
            <a:xfrm>
              <a:off x="4785" y="2251"/>
              <a:ext cx="45" cy="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8" name="TextBox 207"/>
          <p:cNvSpPr txBox="1"/>
          <p:nvPr/>
        </p:nvSpPr>
        <p:spPr>
          <a:xfrm>
            <a:off x="571500" y="571500"/>
            <a:ext cx="107156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1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5786438" y="1857375"/>
            <a:ext cx="13573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2.1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643063" y="3643313"/>
            <a:ext cx="135731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2.2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1" name="Rectangle 122"/>
          <p:cNvSpPr/>
          <p:nvPr/>
        </p:nvSpPr>
        <p:spPr>
          <a:xfrm>
            <a:off x="4143375" y="2889250"/>
            <a:ext cx="311150" cy="39687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>
                <a:solidFill>
                  <a:schemeClr val="hlink"/>
                </a:solidFill>
              </a:rPr>
              <a:t>x</a:t>
            </a:r>
            <a:endParaRPr lang="en-US" altLang="zh-CN" sz="2000" b="1" i="1">
              <a:solidFill>
                <a:schemeClr val="hlink"/>
              </a:solidFill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3929063" y="2500313"/>
            <a:ext cx="135731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2.2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214438" y="5286375"/>
            <a:ext cx="13573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3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4357688" y="5286375"/>
            <a:ext cx="13573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Case 4</a:t>
            </a:r>
            <a:endParaRPr lang="zh-CN" altLang="en-US" sz="1800" b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" grpId="0" animBg="1"/>
      <p:bldP spid="136314" grpId="0"/>
      <p:bldP spid="136367" grpId="0"/>
      <p:bldP spid="208" grpId="0"/>
      <p:bldP spid="209" grpId="0"/>
      <p:bldP spid="210" grpId="0"/>
      <p:bldP spid="211" grpId="0"/>
      <p:bldP spid="212" grpId="0"/>
      <p:bldP spid="213" grpId="0"/>
      <p:bldP spid="2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22530" name="Text Box 4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  <p:sp>
        <p:nvSpPr>
          <p:cNvPr id="129029" name="Text Box 5"/>
          <p:cNvSpPr txBox="1"/>
          <p:nvPr/>
        </p:nvSpPr>
        <p:spPr>
          <a:xfrm>
            <a:off x="611188" y="260350"/>
            <a:ext cx="1728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ym typeface="Webdings" panose="05030102010509060703" pitchFamily="18" charset="2"/>
              </a:rPr>
              <a:t>B+ Trees</a:t>
            </a:r>
            <a:endParaRPr lang="en-US" altLang="zh-CN" sz="2400" b="1"/>
          </a:p>
        </p:txBody>
      </p:sp>
      <p:sp>
        <p:nvSpPr>
          <p:cNvPr id="129030" name="Text Box 6"/>
          <p:cNvSpPr txBox="1"/>
          <p:nvPr/>
        </p:nvSpPr>
        <p:spPr>
          <a:xfrm>
            <a:off x="457200" y="685800"/>
            <a:ext cx="7924800" cy="2255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>
                <a:latin typeface="Arial" panose="020B0604020202020204" pitchFamily="34" charset="0"/>
              </a:rPr>
              <a:t>【Definition】</a:t>
            </a:r>
            <a:r>
              <a:rPr lang="en-US" altLang="zh-CN" sz="2000" b="1">
                <a:latin typeface="Arial" panose="020B0604020202020204" pitchFamily="34" charset="0"/>
              </a:rPr>
              <a:t>A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B+ tree</a:t>
            </a:r>
            <a:r>
              <a:rPr lang="en-US" altLang="zh-CN" sz="2000" b="1">
                <a:latin typeface="Arial" panose="020B0604020202020204" pitchFamily="34" charset="0"/>
              </a:rPr>
              <a:t> of order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000" b="1">
                <a:latin typeface="Arial" panose="020B0604020202020204" pitchFamily="34" charset="0"/>
              </a:rPr>
              <a:t> is a tree with the following structural properties: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(1)  The root is either a leaf or has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between 2 and M children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(2)  All nonleaf nodes (except the root) have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between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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M/2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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 and M children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(3)  All leaves are at the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same depth</a:t>
            </a:r>
            <a:r>
              <a:rPr lang="en-US" altLang="zh-CN" sz="2000" b="1">
                <a:latin typeface="Arial" panose="020B0604020202020204" pitchFamily="34" charset="0"/>
              </a:rPr>
              <a:t>.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1800" b="1"/>
              <a:t>Assume each nonroot leaf also has </a:t>
            </a:r>
            <a:r>
              <a:rPr lang="en-US" altLang="zh-CN" sz="1800" b="1">
                <a:solidFill>
                  <a:srgbClr val="FF0000"/>
                </a:solidFill>
              </a:rPr>
              <a:t>between </a:t>
            </a:r>
            <a:r>
              <a:rPr lang="en-US" altLang="zh-CN" sz="1800" b="1">
                <a:solidFill>
                  <a:srgbClr val="FF0000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1800" b="1">
                <a:solidFill>
                  <a:srgbClr val="FF0000"/>
                </a:solidFill>
              </a:rPr>
              <a:t>M/2</a:t>
            </a:r>
            <a:r>
              <a:rPr lang="en-US" altLang="zh-CN" sz="1800" b="1">
                <a:solidFill>
                  <a:srgbClr val="FF0000"/>
                </a:solidFill>
                <a:sym typeface="Symbol" panose="05050102010706020507" pitchFamily="18" charset="2"/>
              </a:rPr>
              <a:t></a:t>
            </a:r>
            <a:r>
              <a:rPr lang="en-US" altLang="zh-CN" sz="1800" b="1">
                <a:solidFill>
                  <a:srgbClr val="FF0000"/>
                </a:solidFill>
              </a:rPr>
              <a:t> and M children</a:t>
            </a:r>
            <a:r>
              <a:rPr lang="en-US" altLang="zh-CN" sz="1800" b="1"/>
              <a:t>.</a:t>
            </a:r>
            <a:endParaRPr lang="en-US" altLang="zh-CN" sz="1800" b="1"/>
          </a:p>
        </p:txBody>
      </p:sp>
      <p:grpSp>
        <p:nvGrpSpPr>
          <p:cNvPr id="2" name="Group 7"/>
          <p:cNvGrpSpPr/>
          <p:nvPr/>
        </p:nvGrpSpPr>
        <p:grpSpPr>
          <a:xfrm>
            <a:off x="152400" y="3397250"/>
            <a:ext cx="8845550" cy="2393950"/>
            <a:chOff x="96" y="1920"/>
            <a:chExt cx="5572" cy="1508"/>
          </a:xfrm>
        </p:grpSpPr>
        <p:sp>
          <p:nvSpPr>
            <p:cNvPr id="22550" name="Rectangle 8"/>
            <p:cNvSpPr>
              <a:spLocks noChangeAspect="1"/>
            </p:cNvSpPr>
            <p:nvPr/>
          </p:nvSpPr>
          <p:spPr>
            <a:xfrm>
              <a:off x="413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51" name="Rectangle 9"/>
            <p:cNvSpPr>
              <a:spLocks noChangeAspect="1"/>
            </p:cNvSpPr>
            <p:nvPr/>
          </p:nvSpPr>
          <p:spPr>
            <a:xfrm>
              <a:off x="528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>
                  <a:solidFill>
                    <a:schemeClr val="hlink"/>
                  </a:solidFill>
                </a:rPr>
                <a:t>12</a:t>
              </a:r>
              <a:endParaRPr lang="en-US" altLang="zh-CN" sz="1600" b="1">
                <a:solidFill>
                  <a:schemeClr val="hlink"/>
                </a:solidFill>
              </a:endParaRPr>
            </a:p>
          </p:txBody>
        </p:sp>
        <p:sp>
          <p:nvSpPr>
            <p:cNvPr id="22552" name="Rectangle 10"/>
            <p:cNvSpPr>
              <a:spLocks noChangeAspect="1"/>
            </p:cNvSpPr>
            <p:nvPr/>
          </p:nvSpPr>
          <p:spPr>
            <a:xfrm>
              <a:off x="701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53" name="Rectangle 11"/>
            <p:cNvSpPr>
              <a:spLocks noChangeAspect="1"/>
            </p:cNvSpPr>
            <p:nvPr/>
          </p:nvSpPr>
          <p:spPr>
            <a:xfrm>
              <a:off x="816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>
                  <a:solidFill>
                    <a:schemeClr val="hlink"/>
                  </a:solidFill>
                </a:rPr>
                <a:t>15</a:t>
              </a:r>
              <a:endParaRPr lang="en-US" altLang="zh-CN" sz="1600" b="1">
                <a:solidFill>
                  <a:schemeClr val="hlink"/>
                </a:solidFill>
              </a:endParaRPr>
            </a:p>
          </p:txBody>
        </p:sp>
        <p:sp>
          <p:nvSpPr>
            <p:cNvPr id="22554" name="Rectangle 12"/>
            <p:cNvSpPr>
              <a:spLocks noChangeAspect="1"/>
            </p:cNvSpPr>
            <p:nvPr/>
          </p:nvSpPr>
          <p:spPr>
            <a:xfrm>
              <a:off x="989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55" name="Rectangle 13"/>
            <p:cNvSpPr>
              <a:spLocks noChangeAspect="1"/>
            </p:cNvSpPr>
            <p:nvPr/>
          </p:nvSpPr>
          <p:spPr>
            <a:xfrm>
              <a:off x="1104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/>
            </a:p>
          </p:txBody>
        </p:sp>
        <p:sp>
          <p:nvSpPr>
            <p:cNvPr id="22556" name="Rectangle 14"/>
            <p:cNvSpPr>
              <a:spLocks noChangeAspect="1"/>
            </p:cNvSpPr>
            <p:nvPr/>
          </p:nvSpPr>
          <p:spPr>
            <a:xfrm>
              <a:off x="1277" y="2640"/>
              <a:ext cx="115" cy="230"/>
            </a:xfrm>
            <a:prstGeom prst="rect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grpSp>
          <p:nvGrpSpPr>
            <p:cNvPr id="22557" name="Group 15"/>
            <p:cNvGrpSpPr>
              <a:grpSpLocks noChangeAspect="1"/>
            </p:cNvGrpSpPr>
            <p:nvPr/>
          </p:nvGrpSpPr>
          <p:grpSpPr>
            <a:xfrm>
              <a:off x="1776" y="2640"/>
              <a:ext cx="980" cy="230"/>
              <a:chOff x="1872" y="2112"/>
              <a:chExt cx="816" cy="192"/>
            </a:xfrm>
          </p:grpSpPr>
          <p:sp>
            <p:nvSpPr>
              <p:cNvPr id="22609" name="Rectangle 16"/>
              <p:cNvSpPr>
                <a:spLocks noChangeAspect="1"/>
              </p:cNvSpPr>
              <p:nvPr/>
            </p:nvSpPr>
            <p:spPr>
              <a:xfrm>
                <a:off x="187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610" name="Rectangle 17"/>
              <p:cNvSpPr>
                <a:spLocks noChangeAspect="1"/>
              </p:cNvSpPr>
              <p:nvPr/>
            </p:nvSpPr>
            <p:spPr>
              <a:xfrm>
                <a:off x="196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chemeClr val="hlink"/>
                    </a:solidFill>
                  </a:rPr>
                  <a:t>25</a:t>
                </a:r>
                <a:endParaRPr lang="en-US" altLang="zh-CN" sz="1600" b="1">
                  <a:solidFill>
                    <a:schemeClr val="hlink"/>
                  </a:solidFill>
                </a:endParaRPr>
              </a:p>
            </p:txBody>
          </p:sp>
          <p:sp>
            <p:nvSpPr>
              <p:cNvPr id="22611" name="Rectangle 18"/>
              <p:cNvSpPr>
                <a:spLocks noChangeAspect="1"/>
              </p:cNvSpPr>
              <p:nvPr/>
            </p:nvSpPr>
            <p:spPr>
              <a:xfrm>
                <a:off x="211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612" name="Rectangle 19"/>
              <p:cNvSpPr>
                <a:spLocks noChangeAspect="1"/>
              </p:cNvSpPr>
              <p:nvPr/>
            </p:nvSpPr>
            <p:spPr>
              <a:xfrm>
                <a:off x="220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chemeClr val="hlink"/>
                    </a:solidFill>
                  </a:rPr>
                  <a:t>31</a:t>
                </a:r>
                <a:endParaRPr lang="en-US" altLang="zh-CN" sz="1600" b="1">
                  <a:solidFill>
                    <a:schemeClr val="hlink"/>
                  </a:solidFill>
                </a:endParaRPr>
              </a:p>
            </p:txBody>
          </p:sp>
          <p:sp>
            <p:nvSpPr>
              <p:cNvPr id="22613" name="Rectangle 20"/>
              <p:cNvSpPr>
                <a:spLocks noChangeAspect="1"/>
              </p:cNvSpPr>
              <p:nvPr/>
            </p:nvSpPr>
            <p:spPr>
              <a:xfrm>
                <a:off x="235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614" name="Rectangle 21"/>
              <p:cNvSpPr>
                <a:spLocks noChangeAspect="1"/>
              </p:cNvSpPr>
              <p:nvPr/>
            </p:nvSpPr>
            <p:spPr>
              <a:xfrm>
                <a:off x="244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chemeClr val="hlink"/>
                    </a:solidFill>
                  </a:rPr>
                  <a:t>41</a:t>
                </a:r>
                <a:endParaRPr lang="en-US" altLang="zh-CN" sz="1600" b="1">
                  <a:solidFill>
                    <a:schemeClr val="hlink"/>
                  </a:solidFill>
                </a:endParaRPr>
              </a:p>
            </p:txBody>
          </p:sp>
          <p:sp>
            <p:nvSpPr>
              <p:cNvPr id="22615" name="Rectangle 22"/>
              <p:cNvSpPr>
                <a:spLocks noChangeAspect="1"/>
              </p:cNvSpPr>
              <p:nvPr/>
            </p:nvSpPr>
            <p:spPr>
              <a:xfrm>
                <a:off x="259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</p:grpSp>
        <p:sp>
          <p:nvSpPr>
            <p:cNvPr id="22558" name="Rectangle 23"/>
            <p:cNvSpPr>
              <a:spLocks noChangeAspect="1"/>
            </p:cNvSpPr>
            <p:nvPr/>
          </p:nvSpPr>
          <p:spPr>
            <a:xfrm>
              <a:off x="3120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59" name="Rectangle 24"/>
            <p:cNvSpPr>
              <a:spLocks noChangeAspect="1"/>
            </p:cNvSpPr>
            <p:nvPr/>
          </p:nvSpPr>
          <p:spPr>
            <a:xfrm>
              <a:off x="3235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>
                  <a:solidFill>
                    <a:schemeClr val="hlink"/>
                  </a:solidFill>
                </a:rPr>
                <a:t>59</a:t>
              </a:r>
              <a:endParaRPr lang="en-US" altLang="zh-CN" sz="1600" b="1">
                <a:solidFill>
                  <a:schemeClr val="hlink"/>
                </a:solidFill>
              </a:endParaRPr>
            </a:p>
          </p:txBody>
        </p:sp>
        <p:sp>
          <p:nvSpPr>
            <p:cNvPr id="22560" name="Rectangle 25"/>
            <p:cNvSpPr>
              <a:spLocks noChangeAspect="1"/>
            </p:cNvSpPr>
            <p:nvPr/>
          </p:nvSpPr>
          <p:spPr>
            <a:xfrm>
              <a:off x="3408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61" name="Rectangle 26"/>
            <p:cNvSpPr>
              <a:spLocks noChangeAspect="1"/>
            </p:cNvSpPr>
            <p:nvPr/>
          </p:nvSpPr>
          <p:spPr>
            <a:xfrm>
              <a:off x="3523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/>
            </a:p>
          </p:txBody>
        </p:sp>
        <p:sp>
          <p:nvSpPr>
            <p:cNvPr id="22562" name="Rectangle 27"/>
            <p:cNvSpPr>
              <a:spLocks noChangeAspect="1"/>
            </p:cNvSpPr>
            <p:nvPr/>
          </p:nvSpPr>
          <p:spPr>
            <a:xfrm>
              <a:off x="3696" y="2640"/>
              <a:ext cx="115" cy="230"/>
            </a:xfrm>
            <a:prstGeom prst="rect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63" name="Rectangle 28"/>
            <p:cNvSpPr>
              <a:spLocks noChangeAspect="1"/>
            </p:cNvSpPr>
            <p:nvPr/>
          </p:nvSpPr>
          <p:spPr>
            <a:xfrm>
              <a:off x="3811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/>
            </a:p>
          </p:txBody>
        </p:sp>
        <p:sp>
          <p:nvSpPr>
            <p:cNvPr id="22564" name="Rectangle 29"/>
            <p:cNvSpPr>
              <a:spLocks noChangeAspect="1"/>
            </p:cNvSpPr>
            <p:nvPr/>
          </p:nvSpPr>
          <p:spPr>
            <a:xfrm>
              <a:off x="3984" y="2640"/>
              <a:ext cx="115" cy="230"/>
            </a:xfrm>
            <a:prstGeom prst="rect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65" name="Rectangle 30"/>
            <p:cNvSpPr>
              <a:spLocks noChangeAspect="1"/>
            </p:cNvSpPr>
            <p:nvPr/>
          </p:nvSpPr>
          <p:spPr>
            <a:xfrm>
              <a:off x="4416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66" name="Rectangle 31"/>
            <p:cNvSpPr>
              <a:spLocks noChangeAspect="1"/>
            </p:cNvSpPr>
            <p:nvPr/>
          </p:nvSpPr>
          <p:spPr>
            <a:xfrm>
              <a:off x="4531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>
                  <a:solidFill>
                    <a:schemeClr val="hlink"/>
                  </a:solidFill>
                </a:rPr>
                <a:t>84</a:t>
              </a:r>
              <a:endParaRPr lang="en-US" altLang="zh-CN" sz="1600" b="1">
                <a:solidFill>
                  <a:schemeClr val="hlink"/>
                </a:solidFill>
              </a:endParaRPr>
            </a:p>
          </p:txBody>
        </p:sp>
        <p:sp>
          <p:nvSpPr>
            <p:cNvPr id="22567" name="Rectangle 32"/>
            <p:cNvSpPr>
              <a:spLocks noChangeAspect="1"/>
            </p:cNvSpPr>
            <p:nvPr/>
          </p:nvSpPr>
          <p:spPr>
            <a:xfrm>
              <a:off x="4704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68" name="Rectangle 33"/>
            <p:cNvSpPr>
              <a:spLocks noChangeAspect="1"/>
            </p:cNvSpPr>
            <p:nvPr/>
          </p:nvSpPr>
          <p:spPr>
            <a:xfrm>
              <a:off x="4819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>
                  <a:solidFill>
                    <a:schemeClr val="hlink"/>
                  </a:solidFill>
                </a:rPr>
                <a:t>91</a:t>
              </a:r>
              <a:endParaRPr lang="en-US" altLang="zh-CN" sz="1600" b="1">
                <a:solidFill>
                  <a:schemeClr val="hlink"/>
                </a:solidFill>
              </a:endParaRPr>
            </a:p>
          </p:txBody>
        </p:sp>
        <p:sp>
          <p:nvSpPr>
            <p:cNvPr id="22569" name="Rectangle 34"/>
            <p:cNvSpPr>
              <a:spLocks noChangeAspect="1"/>
            </p:cNvSpPr>
            <p:nvPr/>
          </p:nvSpPr>
          <p:spPr>
            <a:xfrm>
              <a:off x="4992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sp>
          <p:nvSpPr>
            <p:cNvPr id="22570" name="Rectangle 35"/>
            <p:cNvSpPr>
              <a:spLocks noChangeAspect="1"/>
            </p:cNvSpPr>
            <p:nvPr/>
          </p:nvSpPr>
          <p:spPr>
            <a:xfrm>
              <a:off x="5107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/>
            </a:p>
          </p:txBody>
        </p:sp>
        <p:sp>
          <p:nvSpPr>
            <p:cNvPr id="22571" name="Rectangle 36"/>
            <p:cNvSpPr>
              <a:spLocks noChangeAspect="1"/>
            </p:cNvSpPr>
            <p:nvPr/>
          </p:nvSpPr>
          <p:spPr>
            <a:xfrm>
              <a:off x="5280" y="2640"/>
              <a:ext cx="115" cy="230"/>
            </a:xfrm>
            <a:prstGeom prst="rect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b="1"/>
            </a:p>
          </p:txBody>
        </p:sp>
        <p:grpSp>
          <p:nvGrpSpPr>
            <p:cNvPr id="22572" name="Group 37"/>
            <p:cNvGrpSpPr>
              <a:grpSpLocks noChangeAspect="1"/>
            </p:cNvGrpSpPr>
            <p:nvPr/>
          </p:nvGrpSpPr>
          <p:grpSpPr>
            <a:xfrm>
              <a:off x="96" y="3216"/>
              <a:ext cx="5572" cy="212"/>
              <a:chOff x="288" y="3216"/>
              <a:chExt cx="5040" cy="192"/>
            </a:xfrm>
          </p:grpSpPr>
          <p:sp>
            <p:nvSpPr>
              <p:cNvPr id="22597" name="Rectangle 38"/>
              <p:cNvSpPr>
                <a:spLocks noChangeAspect="1"/>
              </p:cNvSpPr>
              <p:nvPr/>
            </p:nvSpPr>
            <p:spPr>
              <a:xfrm>
                <a:off x="288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1,4,8,11</a:t>
                </a:r>
                <a:endParaRPr lang="en-US" altLang="zh-CN" sz="1600" b="1"/>
              </a:p>
            </p:txBody>
          </p:sp>
          <p:sp>
            <p:nvSpPr>
              <p:cNvPr id="22598" name="Rectangle 39"/>
              <p:cNvSpPr>
                <a:spLocks noChangeAspect="1"/>
              </p:cNvSpPr>
              <p:nvPr/>
            </p:nvSpPr>
            <p:spPr>
              <a:xfrm>
                <a:off x="768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12</a:t>
                </a:r>
                <a:r>
                  <a:rPr lang="en-US" altLang="zh-CN" sz="1600" b="1"/>
                  <a:t>,13</a:t>
                </a:r>
                <a:endParaRPr lang="en-US" altLang="zh-CN" sz="1600" b="1"/>
              </a:p>
            </p:txBody>
          </p:sp>
          <p:sp>
            <p:nvSpPr>
              <p:cNvPr id="22599" name="Rectangle 40"/>
              <p:cNvSpPr>
                <a:spLocks noChangeAspect="1"/>
              </p:cNvSpPr>
              <p:nvPr/>
            </p:nvSpPr>
            <p:spPr>
              <a:xfrm>
                <a:off x="1152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15</a:t>
                </a:r>
                <a:r>
                  <a:rPr lang="en-US" altLang="zh-CN" sz="1600" b="1"/>
                  <a:t>,18,19</a:t>
                </a:r>
                <a:endParaRPr lang="en-US" altLang="zh-CN" sz="1600" b="1"/>
              </a:p>
            </p:txBody>
          </p:sp>
          <p:sp>
            <p:nvSpPr>
              <p:cNvPr id="22600" name="Rectangle 41"/>
              <p:cNvSpPr>
                <a:spLocks noChangeAspect="1"/>
              </p:cNvSpPr>
              <p:nvPr/>
            </p:nvSpPr>
            <p:spPr>
              <a:xfrm>
                <a:off x="1632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21,24</a:t>
                </a:r>
                <a:endParaRPr lang="en-US" altLang="zh-CN" sz="1600" b="1"/>
              </a:p>
            </p:txBody>
          </p:sp>
          <p:sp>
            <p:nvSpPr>
              <p:cNvPr id="22601" name="Rectangle 42"/>
              <p:cNvSpPr>
                <a:spLocks noChangeAspect="1"/>
              </p:cNvSpPr>
              <p:nvPr/>
            </p:nvSpPr>
            <p:spPr>
              <a:xfrm>
                <a:off x="2016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25</a:t>
                </a:r>
                <a:r>
                  <a:rPr lang="en-US" altLang="zh-CN" sz="1600" b="1"/>
                  <a:t>,26</a:t>
                </a:r>
                <a:endParaRPr lang="en-US" altLang="zh-CN" sz="1600" b="1"/>
              </a:p>
            </p:txBody>
          </p:sp>
          <p:sp>
            <p:nvSpPr>
              <p:cNvPr id="22602" name="Rectangle 43"/>
              <p:cNvSpPr>
                <a:spLocks noChangeAspect="1"/>
              </p:cNvSpPr>
              <p:nvPr/>
            </p:nvSpPr>
            <p:spPr>
              <a:xfrm>
                <a:off x="2400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31</a:t>
                </a:r>
                <a:r>
                  <a:rPr lang="en-US" altLang="zh-CN" sz="1600" b="1"/>
                  <a:t>,38</a:t>
                </a:r>
                <a:endParaRPr lang="en-US" altLang="zh-CN" sz="1600" b="1"/>
              </a:p>
            </p:txBody>
          </p:sp>
          <p:sp>
            <p:nvSpPr>
              <p:cNvPr id="22603" name="Rectangle 44"/>
              <p:cNvSpPr>
                <a:spLocks noChangeAspect="1"/>
              </p:cNvSpPr>
              <p:nvPr/>
            </p:nvSpPr>
            <p:spPr>
              <a:xfrm>
                <a:off x="2784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41</a:t>
                </a:r>
                <a:r>
                  <a:rPr lang="en-US" altLang="zh-CN" sz="1600" b="1"/>
                  <a:t>,43,46</a:t>
                </a:r>
                <a:endParaRPr lang="en-US" altLang="zh-CN" sz="1600" b="1"/>
              </a:p>
            </p:txBody>
          </p:sp>
          <p:sp>
            <p:nvSpPr>
              <p:cNvPr id="22604" name="Rectangle 45"/>
              <p:cNvSpPr>
                <a:spLocks noChangeAspect="1"/>
              </p:cNvSpPr>
              <p:nvPr/>
            </p:nvSpPr>
            <p:spPr>
              <a:xfrm>
                <a:off x="3264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48,49,50</a:t>
                </a:r>
                <a:endParaRPr lang="en-US" altLang="zh-CN" sz="1600" b="1"/>
              </a:p>
            </p:txBody>
          </p:sp>
          <p:sp>
            <p:nvSpPr>
              <p:cNvPr id="22605" name="Rectangle 46"/>
              <p:cNvSpPr>
                <a:spLocks noChangeAspect="1"/>
              </p:cNvSpPr>
              <p:nvPr/>
            </p:nvSpPr>
            <p:spPr>
              <a:xfrm>
                <a:off x="3744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59</a:t>
                </a:r>
                <a:r>
                  <a:rPr lang="en-US" altLang="zh-CN" sz="1600" b="1"/>
                  <a:t>,68</a:t>
                </a:r>
                <a:endParaRPr lang="en-US" altLang="zh-CN" sz="1600" b="1"/>
              </a:p>
            </p:txBody>
          </p:sp>
          <p:sp>
            <p:nvSpPr>
              <p:cNvPr id="22606" name="Rectangle 47"/>
              <p:cNvSpPr>
                <a:spLocks noChangeAspect="1"/>
              </p:cNvSpPr>
              <p:nvPr/>
            </p:nvSpPr>
            <p:spPr>
              <a:xfrm>
                <a:off x="4128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72,78</a:t>
                </a:r>
                <a:endParaRPr lang="en-US" altLang="zh-CN" sz="1600" b="1"/>
              </a:p>
            </p:txBody>
          </p:sp>
          <p:sp>
            <p:nvSpPr>
              <p:cNvPr id="22607" name="Rectangle 48"/>
              <p:cNvSpPr>
                <a:spLocks noChangeAspect="1"/>
              </p:cNvSpPr>
              <p:nvPr/>
            </p:nvSpPr>
            <p:spPr>
              <a:xfrm>
                <a:off x="4512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84</a:t>
                </a:r>
                <a:r>
                  <a:rPr lang="en-US" altLang="zh-CN" sz="1600" b="1"/>
                  <a:t>,88</a:t>
                </a:r>
                <a:endParaRPr lang="en-US" altLang="zh-CN" sz="1600" b="1"/>
              </a:p>
            </p:txBody>
          </p:sp>
          <p:sp>
            <p:nvSpPr>
              <p:cNvPr id="22608" name="Rectangle 49"/>
              <p:cNvSpPr>
                <a:spLocks noChangeAspect="1"/>
              </p:cNvSpPr>
              <p:nvPr/>
            </p:nvSpPr>
            <p:spPr>
              <a:xfrm>
                <a:off x="4896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>
                    <a:solidFill>
                      <a:srgbClr val="FF0000"/>
                    </a:solidFill>
                  </a:rPr>
                  <a:t>91</a:t>
                </a:r>
                <a:r>
                  <a:rPr lang="en-US" altLang="zh-CN" sz="1600" b="1"/>
                  <a:t>,92,99</a:t>
                </a:r>
                <a:endParaRPr lang="en-US" altLang="zh-CN" sz="1600" b="1"/>
              </a:p>
            </p:txBody>
          </p:sp>
        </p:grpSp>
        <p:grpSp>
          <p:nvGrpSpPr>
            <p:cNvPr id="22573" name="Group 50"/>
            <p:cNvGrpSpPr>
              <a:grpSpLocks noChangeAspect="1"/>
            </p:cNvGrpSpPr>
            <p:nvPr/>
          </p:nvGrpSpPr>
          <p:grpSpPr>
            <a:xfrm>
              <a:off x="2208" y="1920"/>
              <a:ext cx="979" cy="230"/>
              <a:chOff x="1872" y="2112"/>
              <a:chExt cx="816" cy="192"/>
            </a:xfrm>
          </p:grpSpPr>
          <p:sp>
            <p:nvSpPr>
              <p:cNvPr id="22590" name="Rectangle 51"/>
              <p:cNvSpPr>
                <a:spLocks noChangeAspect="1"/>
              </p:cNvSpPr>
              <p:nvPr/>
            </p:nvSpPr>
            <p:spPr>
              <a:xfrm>
                <a:off x="187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591" name="Rectangle 52"/>
              <p:cNvSpPr>
                <a:spLocks noChangeAspect="1"/>
              </p:cNvSpPr>
              <p:nvPr/>
            </p:nvSpPr>
            <p:spPr>
              <a:xfrm>
                <a:off x="196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21</a:t>
                </a:r>
                <a:endParaRPr lang="en-US" altLang="zh-CN" sz="1600" b="1"/>
              </a:p>
            </p:txBody>
          </p:sp>
          <p:sp>
            <p:nvSpPr>
              <p:cNvPr id="22592" name="Rectangle 53"/>
              <p:cNvSpPr>
                <a:spLocks noChangeAspect="1"/>
              </p:cNvSpPr>
              <p:nvPr/>
            </p:nvSpPr>
            <p:spPr>
              <a:xfrm>
                <a:off x="211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593" name="Rectangle 54"/>
              <p:cNvSpPr>
                <a:spLocks noChangeAspect="1"/>
              </p:cNvSpPr>
              <p:nvPr/>
            </p:nvSpPr>
            <p:spPr>
              <a:xfrm>
                <a:off x="220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48</a:t>
                </a:r>
                <a:endParaRPr lang="en-US" altLang="zh-CN" sz="1600" b="1"/>
              </a:p>
            </p:txBody>
          </p:sp>
          <p:sp>
            <p:nvSpPr>
              <p:cNvPr id="22594" name="Rectangle 55"/>
              <p:cNvSpPr>
                <a:spLocks noChangeAspect="1"/>
              </p:cNvSpPr>
              <p:nvPr/>
            </p:nvSpPr>
            <p:spPr>
              <a:xfrm>
                <a:off x="235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  <p:sp>
            <p:nvSpPr>
              <p:cNvPr id="22595" name="Rectangle 56"/>
              <p:cNvSpPr>
                <a:spLocks noChangeAspect="1"/>
              </p:cNvSpPr>
              <p:nvPr/>
            </p:nvSpPr>
            <p:spPr>
              <a:xfrm>
                <a:off x="244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/>
                  <a:t>72</a:t>
                </a:r>
                <a:endParaRPr lang="en-US" altLang="zh-CN" sz="1600" b="1"/>
              </a:p>
            </p:txBody>
          </p:sp>
          <p:sp>
            <p:nvSpPr>
              <p:cNvPr id="22596" name="Rectangle 57"/>
              <p:cNvSpPr>
                <a:spLocks noChangeAspect="1"/>
              </p:cNvSpPr>
              <p:nvPr/>
            </p:nvSpPr>
            <p:spPr>
              <a:xfrm>
                <a:off x="259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/>
              </a:p>
            </p:txBody>
          </p:sp>
        </p:grpSp>
        <p:sp>
          <p:nvSpPr>
            <p:cNvPr id="22574" name="Line 58"/>
            <p:cNvSpPr/>
            <p:nvPr/>
          </p:nvSpPr>
          <p:spPr>
            <a:xfrm flipH="1">
              <a:off x="960" y="2064"/>
              <a:ext cx="1296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75" name="Line 59"/>
            <p:cNvSpPr/>
            <p:nvPr/>
          </p:nvSpPr>
          <p:spPr>
            <a:xfrm flipH="1">
              <a:off x="2304" y="2064"/>
              <a:ext cx="240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76" name="Line 60"/>
            <p:cNvSpPr/>
            <p:nvPr/>
          </p:nvSpPr>
          <p:spPr>
            <a:xfrm>
              <a:off x="2832" y="2064"/>
              <a:ext cx="672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77" name="Line 61"/>
            <p:cNvSpPr/>
            <p:nvPr/>
          </p:nvSpPr>
          <p:spPr>
            <a:xfrm>
              <a:off x="3120" y="2064"/>
              <a:ext cx="1776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78" name="Line 62"/>
            <p:cNvSpPr/>
            <p:nvPr/>
          </p:nvSpPr>
          <p:spPr>
            <a:xfrm flipH="1">
              <a:off x="336" y="2784"/>
              <a:ext cx="14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79" name="Line 63"/>
            <p:cNvSpPr/>
            <p:nvPr/>
          </p:nvSpPr>
          <p:spPr>
            <a:xfrm>
              <a:off x="768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0" name="Line 64"/>
            <p:cNvSpPr/>
            <p:nvPr/>
          </p:nvSpPr>
          <p:spPr>
            <a:xfrm>
              <a:off x="1056" y="2784"/>
              <a:ext cx="240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1" name="Line 65"/>
            <p:cNvSpPr/>
            <p:nvPr/>
          </p:nvSpPr>
          <p:spPr>
            <a:xfrm flipH="1">
              <a:off x="1776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2" name="Line 66"/>
            <p:cNvSpPr/>
            <p:nvPr/>
          </p:nvSpPr>
          <p:spPr>
            <a:xfrm>
              <a:off x="2112" y="2784"/>
              <a:ext cx="9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3" name="Line 67"/>
            <p:cNvSpPr/>
            <p:nvPr/>
          </p:nvSpPr>
          <p:spPr>
            <a:xfrm>
              <a:off x="2400" y="2784"/>
              <a:ext cx="192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4" name="Line 68"/>
            <p:cNvSpPr/>
            <p:nvPr/>
          </p:nvSpPr>
          <p:spPr>
            <a:xfrm>
              <a:off x="2688" y="2784"/>
              <a:ext cx="38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5" name="Line 69"/>
            <p:cNvSpPr/>
            <p:nvPr/>
          </p:nvSpPr>
          <p:spPr>
            <a:xfrm>
              <a:off x="3168" y="2784"/>
              <a:ext cx="33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6" name="Line 70"/>
            <p:cNvSpPr/>
            <p:nvPr/>
          </p:nvSpPr>
          <p:spPr>
            <a:xfrm>
              <a:off x="3456" y="2784"/>
              <a:ext cx="62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7" name="Line 71"/>
            <p:cNvSpPr/>
            <p:nvPr/>
          </p:nvSpPr>
          <p:spPr>
            <a:xfrm>
              <a:off x="4464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8" name="Line 72"/>
            <p:cNvSpPr/>
            <p:nvPr/>
          </p:nvSpPr>
          <p:spPr>
            <a:xfrm>
              <a:off x="4752" y="2784"/>
              <a:ext cx="192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89" name="Line 73"/>
            <p:cNvSpPr/>
            <p:nvPr/>
          </p:nvSpPr>
          <p:spPr>
            <a:xfrm>
              <a:off x="5040" y="2784"/>
              <a:ext cx="33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9098" name="Rectangle 74"/>
          <p:cNvSpPr/>
          <p:nvPr/>
        </p:nvSpPr>
        <p:spPr>
          <a:xfrm>
            <a:off x="533400" y="3032125"/>
            <a:ext cx="2667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A B+ tree of order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4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(2-3-4 tree)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29099" name="AutoShape 75"/>
          <p:cNvSpPr/>
          <p:nvPr/>
        </p:nvSpPr>
        <p:spPr>
          <a:xfrm>
            <a:off x="5410200" y="2286000"/>
            <a:ext cx="2971800" cy="1524000"/>
          </a:xfrm>
          <a:prstGeom prst="wedgeEllipseCallout">
            <a:avLst>
              <a:gd name="adj1" fmla="val -37981"/>
              <a:gd name="adj2" fmla="val 158856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/>
              <a:t>All the actual data are stored at the leaves.</a:t>
            </a:r>
            <a:endParaRPr lang="en-US" altLang="zh-CN" sz="2000" b="1"/>
          </a:p>
        </p:txBody>
      </p:sp>
      <p:sp>
        <p:nvSpPr>
          <p:cNvPr id="129100" name="AutoShape 76"/>
          <p:cNvSpPr/>
          <p:nvPr/>
        </p:nvSpPr>
        <p:spPr>
          <a:xfrm>
            <a:off x="5257800" y="2286000"/>
            <a:ext cx="3276600" cy="1524000"/>
          </a:xfrm>
          <a:prstGeom prst="wedgeEllipseCallout">
            <a:avLst>
              <a:gd name="adj1" fmla="val -79556"/>
              <a:gd name="adj2" fmla="val 107917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/>
              <a:t>Each interior node contains </a:t>
            </a:r>
            <a:r>
              <a:rPr lang="en-US" altLang="zh-CN" sz="2000" b="1" i="1"/>
              <a:t>M </a:t>
            </a:r>
            <a:r>
              <a:rPr lang="en-US" altLang="zh-CN" sz="2000" b="1"/>
              <a:t>pointers to the children.</a:t>
            </a:r>
            <a:endParaRPr lang="en-US" altLang="zh-CN" sz="2000" b="1"/>
          </a:p>
        </p:txBody>
      </p:sp>
      <p:sp>
        <p:nvSpPr>
          <p:cNvPr id="129101" name="AutoShape 77"/>
          <p:cNvSpPr/>
          <p:nvPr/>
        </p:nvSpPr>
        <p:spPr>
          <a:xfrm>
            <a:off x="5257800" y="2286000"/>
            <a:ext cx="3276600" cy="1524000"/>
          </a:xfrm>
          <a:prstGeom prst="wedgeEllipseCallout">
            <a:avLst>
              <a:gd name="adj1" fmla="val -86241"/>
              <a:gd name="adj2" fmla="val 103958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/>
              <a:t>And </a:t>
            </a:r>
            <a:r>
              <a:rPr lang="en-US" altLang="zh-CN" sz="2000" b="1" i="1"/>
              <a:t>M </a:t>
            </a:r>
            <a:r>
              <a:rPr lang="en-US" altLang="zh-CN" sz="2000" b="1">
                <a:sym typeface="Symbol" panose="05050102010706020507" pitchFamily="18" charset="2"/>
              </a:rPr>
              <a:t> 1 smallest key values in the subtrees except the 1</a:t>
            </a:r>
            <a:r>
              <a:rPr lang="en-US" altLang="zh-CN" sz="2000" b="1" baseline="30000">
                <a:sym typeface="Symbol" panose="05050102010706020507" pitchFamily="18" charset="2"/>
              </a:rPr>
              <a:t>st</a:t>
            </a:r>
            <a:r>
              <a:rPr lang="en-US" altLang="zh-CN" sz="2000" b="1">
                <a:sym typeface="Symbol" panose="05050102010706020507" pitchFamily="18" charset="2"/>
              </a:rPr>
              <a:t> one.</a:t>
            </a:r>
            <a:endParaRPr lang="en-US" altLang="zh-CN" sz="2000" b="1"/>
          </a:p>
        </p:txBody>
      </p:sp>
      <p:grpSp>
        <p:nvGrpSpPr>
          <p:cNvPr id="6" name="Group 78"/>
          <p:cNvGrpSpPr/>
          <p:nvPr/>
        </p:nvGrpSpPr>
        <p:grpSpPr>
          <a:xfrm>
            <a:off x="609600" y="5715000"/>
            <a:ext cx="7924800" cy="457200"/>
            <a:chOff x="384" y="3600"/>
            <a:chExt cx="4992" cy="288"/>
          </a:xfrm>
        </p:grpSpPr>
        <p:sp>
          <p:nvSpPr>
            <p:cNvPr id="22539" name="Text Box 79"/>
            <p:cNvSpPr txBox="1"/>
            <p:nvPr/>
          </p:nvSpPr>
          <p:spPr>
            <a:xfrm>
              <a:off x="38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0" name="Text Box 80"/>
            <p:cNvSpPr txBox="1"/>
            <p:nvPr/>
          </p:nvSpPr>
          <p:spPr>
            <a:xfrm>
              <a:off x="816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1" name="Text Box 81"/>
            <p:cNvSpPr txBox="1"/>
            <p:nvPr/>
          </p:nvSpPr>
          <p:spPr>
            <a:xfrm>
              <a:off x="134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2" name="Text Box 82"/>
            <p:cNvSpPr txBox="1"/>
            <p:nvPr/>
          </p:nvSpPr>
          <p:spPr>
            <a:xfrm>
              <a:off x="1776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3" name="Text Box 83"/>
            <p:cNvSpPr txBox="1"/>
            <p:nvPr/>
          </p:nvSpPr>
          <p:spPr>
            <a:xfrm>
              <a:off x="216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4" name="Text Box 84"/>
            <p:cNvSpPr txBox="1"/>
            <p:nvPr/>
          </p:nvSpPr>
          <p:spPr>
            <a:xfrm>
              <a:off x="2592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5" name="Text Box 85"/>
            <p:cNvSpPr txBox="1"/>
            <p:nvPr/>
          </p:nvSpPr>
          <p:spPr>
            <a:xfrm>
              <a:off x="312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6" name="Text Box 86"/>
            <p:cNvSpPr txBox="1"/>
            <p:nvPr/>
          </p:nvSpPr>
          <p:spPr>
            <a:xfrm>
              <a:off x="3648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7" name="Text Box 87"/>
            <p:cNvSpPr txBox="1"/>
            <p:nvPr/>
          </p:nvSpPr>
          <p:spPr>
            <a:xfrm>
              <a:off x="408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8" name="Text Box 88"/>
            <p:cNvSpPr txBox="1"/>
            <p:nvPr/>
          </p:nvSpPr>
          <p:spPr>
            <a:xfrm>
              <a:off x="4512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2549" name="Text Box 89"/>
            <p:cNvSpPr txBox="1"/>
            <p:nvPr/>
          </p:nvSpPr>
          <p:spPr>
            <a:xfrm>
              <a:off x="494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>
                  <a:solidFill>
                    <a:srgbClr val="FF0000"/>
                  </a:solidFill>
                </a:rPr>
                <a:t>&lt;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2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29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29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/>
      <p:bldP spid="129030" grpId="0"/>
      <p:bldP spid="129098" grpId="0"/>
      <p:bldP spid="129099" grpId="0" animBg="1"/>
      <p:bldP spid="129100" grpId="0" animBg="1"/>
      <p:bldP spid="12910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30051" name="Rectangle 3"/>
          <p:cNvSpPr/>
          <p:nvPr/>
        </p:nvSpPr>
        <p:spPr>
          <a:xfrm>
            <a:off x="533400" y="381000"/>
            <a:ext cx="2667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A B+ tree of order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3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(2-3 tree)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219200" y="2362200"/>
            <a:ext cx="6781800" cy="381000"/>
            <a:chOff x="768" y="1488"/>
            <a:chExt cx="4272" cy="240"/>
          </a:xfrm>
        </p:grpSpPr>
        <p:sp>
          <p:nvSpPr>
            <p:cNvPr id="23633" name="Rectangle 5"/>
            <p:cNvSpPr/>
            <p:nvPr/>
          </p:nvSpPr>
          <p:spPr>
            <a:xfrm>
              <a:off x="768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8,11,12</a:t>
              </a:r>
              <a:endParaRPr lang="en-US" altLang="zh-CN" sz="1800" b="1"/>
            </a:p>
          </p:txBody>
        </p:sp>
        <p:sp>
          <p:nvSpPr>
            <p:cNvPr id="23634" name="Rectangle 6"/>
            <p:cNvSpPr/>
            <p:nvPr/>
          </p:nvSpPr>
          <p:spPr>
            <a:xfrm>
              <a:off x="1584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16,17</a:t>
              </a:r>
              <a:endParaRPr lang="en-US" altLang="zh-CN" sz="1800" b="1"/>
            </a:p>
          </p:txBody>
        </p:sp>
        <p:sp>
          <p:nvSpPr>
            <p:cNvPr id="23635" name="Rectangle 7"/>
            <p:cNvSpPr/>
            <p:nvPr/>
          </p:nvSpPr>
          <p:spPr>
            <a:xfrm>
              <a:off x="2736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22,23,31</a:t>
              </a:r>
              <a:endParaRPr lang="en-US" altLang="zh-CN" sz="1800" b="1"/>
            </a:p>
          </p:txBody>
        </p:sp>
        <p:sp>
          <p:nvSpPr>
            <p:cNvPr id="23636" name="Rectangle 8"/>
            <p:cNvSpPr/>
            <p:nvPr/>
          </p:nvSpPr>
          <p:spPr>
            <a:xfrm>
              <a:off x="3552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41,52</a:t>
              </a:r>
              <a:endParaRPr lang="en-US" altLang="zh-CN" sz="1800" b="1"/>
            </a:p>
          </p:txBody>
        </p:sp>
        <p:sp>
          <p:nvSpPr>
            <p:cNvPr id="23637" name="Rectangle 9"/>
            <p:cNvSpPr/>
            <p:nvPr/>
          </p:nvSpPr>
          <p:spPr>
            <a:xfrm>
              <a:off x="4368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58,59,61</a:t>
              </a:r>
              <a:endParaRPr lang="en-US" altLang="zh-CN" sz="1800" b="1"/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1676400" y="1524000"/>
            <a:ext cx="5791200" cy="838200"/>
            <a:chOff x="1056" y="960"/>
            <a:chExt cx="3648" cy="528"/>
          </a:xfrm>
        </p:grpSpPr>
        <p:sp>
          <p:nvSpPr>
            <p:cNvPr id="23626" name="Oval 11"/>
            <p:cNvSpPr/>
            <p:nvPr/>
          </p:nvSpPr>
          <p:spPr>
            <a:xfrm>
              <a:off x="1200" y="96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/>
            </a:p>
          </p:txBody>
        </p:sp>
        <p:sp>
          <p:nvSpPr>
            <p:cNvPr id="23627" name="Oval 12"/>
            <p:cNvSpPr/>
            <p:nvPr/>
          </p:nvSpPr>
          <p:spPr>
            <a:xfrm>
              <a:off x="3504" y="96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41:58</a:t>
              </a:r>
              <a:endParaRPr lang="en-US" altLang="zh-CN" sz="1800" b="1"/>
            </a:p>
          </p:txBody>
        </p:sp>
        <p:sp>
          <p:nvSpPr>
            <p:cNvPr id="23628" name="Line 13"/>
            <p:cNvSpPr/>
            <p:nvPr/>
          </p:nvSpPr>
          <p:spPr>
            <a:xfrm flipH="1">
              <a:off x="1056" y="1200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9" name="Line 14"/>
            <p:cNvSpPr/>
            <p:nvPr/>
          </p:nvSpPr>
          <p:spPr>
            <a:xfrm>
              <a:off x="1728" y="1200"/>
              <a:ext cx="19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0" name="Line 15"/>
            <p:cNvSpPr/>
            <p:nvPr/>
          </p:nvSpPr>
          <p:spPr>
            <a:xfrm flipH="1">
              <a:off x="3120" y="1200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1" name="Line 16"/>
            <p:cNvSpPr/>
            <p:nvPr/>
          </p:nvSpPr>
          <p:spPr>
            <a:xfrm>
              <a:off x="3840" y="1248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32" name="Line 17"/>
            <p:cNvSpPr/>
            <p:nvPr/>
          </p:nvSpPr>
          <p:spPr>
            <a:xfrm>
              <a:off x="4032" y="120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8"/>
          <p:cNvGrpSpPr/>
          <p:nvPr/>
        </p:nvGrpSpPr>
        <p:grpSpPr>
          <a:xfrm>
            <a:off x="2743200" y="838200"/>
            <a:ext cx="2971800" cy="762000"/>
            <a:chOff x="1728" y="528"/>
            <a:chExt cx="1872" cy="480"/>
          </a:xfrm>
        </p:grpSpPr>
        <p:sp>
          <p:nvSpPr>
            <p:cNvPr id="23623" name="Oval 19"/>
            <p:cNvSpPr/>
            <p:nvPr/>
          </p:nvSpPr>
          <p:spPr>
            <a:xfrm>
              <a:off x="2400" y="528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/>
            </a:p>
          </p:txBody>
        </p:sp>
        <p:sp>
          <p:nvSpPr>
            <p:cNvPr id="23624" name="Line 20"/>
            <p:cNvSpPr/>
            <p:nvPr/>
          </p:nvSpPr>
          <p:spPr>
            <a:xfrm flipH="1">
              <a:off x="1728" y="72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5" name="Line 21"/>
            <p:cNvSpPr/>
            <p:nvPr/>
          </p:nvSpPr>
          <p:spPr>
            <a:xfrm>
              <a:off x="3024" y="720"/>
              <a:ext cx="57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070" name="Text Box 22"/>
          <p:cNvSpPr txBox="1"/>
          <p:nvPr/>
        </p:nvSpPr>
        <p:spPr>
          <a:xfrm>
            <a:off x="609600" y="3048000"/>
            <a:ext cx="20574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Find: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52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30071" name="Line 23"/>
          <p:cNvSpPr/>
          <p:nvPr/>
        </p:nvSpPr>
        <p:spPr>
          <a:xfrm>
            <a:off x="4267200" y="457200"/>
            <a:ext cx="0" cy="381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0072" name="Line 24"/>
          <p:cNvSpPr/>
          <p:nvPr/>
        </p:nvSpPr>
        <p:spPr>
          <a:xfrm>
            <a:off x="4800600" y="1143000"/>
            <a:ext cx="914400" cy="457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0073" name="Line 25"/>
          <p:cNvSpPr/>
          <p:nvPr/>
        </p:nvSpPr>
        <p:spPr>
          <a:xfrm>
            <a:off x="6096000" y="1981200"/>
            <a:ext cx="76200" cy="381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0074" name="Oval 26"/>
          <p:cNvSpPr/>
          <p:nvPr/>
        </p:nvSpPr>
        <p:spPr>
          <a:xfrm>
            <a:off x="6096000" y="23622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075" name="Text Box 27"/>
          <p:cNvSpPr txBox="1"/>
          <p:nvPr/>
        </p:nvSpPr>
        <p:spPr>
          <a:xfrm>
            <a:off x="2438400" y="3048000"/>
            <a:ext cx="22098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Insert: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008000"/>
                </a:solidFill>
              </a:rPr>
              <a:t>18</a:t>
            </a:r>
            <a:endParaRPr lang="en-US" altLang="zh-CN" sz="2400" b="1">
              <a:solidFill>
                <a:srgbClr val="008000"/>
              </a:solidFill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2743200" y="1143000"/>
            <a:ext cx="1066800" cy="1219200"/>
            <a:chOff x="1728" y="720"/>
            <a:chExt cx="672" cy="768"/>
          </a:xfrm>
        </p:grpSpPr>
        <p:sp>
          <p:nvSpPr>
            <p:cNvPr id="23621" name="Line 29"/>
            <p:cNvSpPr/>
            <p:nvPr/>
          </p:nvSpPr>
          <p:spPr>
            <a:xfrm flipH="1">
              <a:off x="1728" y="720"/>
              <a:ext cx="672" cy="288"/>
            </a:xfrm>
            <a:prstGeom prst="line">
              <a:avLst/>
            </a:prstGeom>
            <a:ln w="38100" cap="flat" cmpd="sng">
              <a:solidFill>
                <a:srgbClr val="99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2" name="Line 30"/>
            <p:cNvSpPr/>
            <p:nvPr/>
          </p:nvSpPr>
          <p:spPr>
            <a:xfrm flipH="1" flipV="1">
              <a:off x="1728" y="1200"/>
              <a:ext cx="192" cy="288"/>
            </a:xfrm>
            <a:prstGeom prst="line">
              <a:avLst/>
            </a:prstGeom>
            <a:ln w="38100" cap="flat" cmpd="sng">
              <a:solidFill>
                <a:srgbClr val="99CC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079" name="Rectangle 31"/>
          <p:cNvSpPr/>
          <p:nvPr/>
        </p:nvSpPr>
        <p:spPr>
          <a:xfrm>
            <a:off x="2514600" y="2362200"/>
            <a:ext cx="10668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/>
              <a:t>16,17,</a:t>
            </a:r>
            <a:r>
              <a:rPr lang="en-US" altLang="zh-CN" sz="1800" b="1">
                <a:solidFill>
                  <a:srgbClr val="008000"/>
                </a:solidFill>
              </a:rPr>
              <a:t>18</a:t>
            </a:r>
            <a:endParaRPr lang="en-US" altLang="zh-CN" sz="1800" b="1">
              <a:solidFill>
                <a:srgbClr val="008000"/>
              </a:solidFill>
            </a:endParaRPr>
          </a:p>
        </p:txBody>
      </p:sp>
      <p:sp>
        <p:nvSpPr>
          <p:cNvPr id="130080" name="Text Box 32"/>
          <p:cNvSpPr txBox="1"/>
          <p:nvPr/>
        </p:nvSpPr>
        <p:spPr>
          <a:xfrm>
            <a:off x="4495800" y="3062288"/>
            <a:ext cx="22098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Insert: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990099"/>
                </a:solidFill>
              </a:rPr>
              <a:t>1</a:t>
            </a:r>
            <a:endParaRPr lang="en-US" altLang="zh-CN" sz="2400" b="1">
              <a:solidFill>
                <a:srgbClr val="990099"/>
              </a:solidFill>
            </a:endParaRPr>
          </a:p>
        </p:txBody>
      </p:sp>
      <p:sp>
        <p:nvSpPr>
          <p:cNvPr id="130081" name="Rectangle 33"/>
          <p:cNvSpPr/>
          <p:nvPr/>
        </p:nvSpPr>
        <p:spPr>
          <a:xfrm>
            <a:off x="1219200" y="2362200"/>
            <a:ext cx="1066800" cy="381000"/>
          </a:xfrm>
          <a:prstGeom prst="rect">
            <a:avLst/>
          </a:prstGeom>
          <a:solidFill>
            <a:srgbClr val="00FFFF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082" name="Text Box 34"/>
          <p:cNvSpPr txBox="1"/>
          <p:nvPr/>
        </p:nvSpPr>
        <p:spPr>
          <a:xfrm>
            <a:off x="2819400" y="1447800"/>
            <a:ext cx="533400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0083" name="Rectangle 35"/>
          <p:cNvSpPr/>
          <p:nvPr/>
        </p:nvSpPr>
        <p:spPr>
          <a:xfrm>
            <a:off x="1143000" y="1143000"/>
            <a:ext cx="6934200" cy="16764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084" name="Rectangle 36"/>
          <p:cNvSpPr/>
          <p:nvPr/>
        </p:nvSpPr>
        <p:spPr>
          <a:xfrm>
            <a:off x="3581400" y="304800"/>
            <a:ext cx="1371600" cy="990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grpSp>
        <p:nvGrpSpPr>
          <p:cNvPr id="6" name="Group 37"/>
          <p:cNvGrpSpPr/>
          <p:nvPr/>
        </p:nvGrpSpPr>
        <p:grpSpPr>
          <a:xfrm>
            <a:off x="762000" y="838200"/>
            <a:ext cx="7543800" cy="1905000"/>
            <a:chOff x="288" y="528"/>
            <a:chExt cx="4752" cy="1200"/>
          </a:xfrm>
        </p:grpSpPr>
        <p:sp>
          <p:nvSpPr>
            <p:cNvPr id="23603" name="Rectangle 38"/>
            <p:cNvSpPr/>
            <p:nvPr/>
          </p:nvSpPr>
          <p:spPr>
            <a:xfrm>
              <a:off x="1056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11,12</a:t>
              </a:r>
              <a:endParaRPr lang="en-US" altLang="zh-CN" sz="1800" b="1"/>
            </a:p>
          </p:txBody>
        </p:sp>
        <p:sp>
          <p:nvSpPr>
            <p:cNvPr id="23604" name="Rectangle 39"/>
            <p:cNvSpPr/>
            <p:nvPr/>
          </p:nvSpPr>
          <p:spPr>
            <a:xfrm>
              <a:off x="2736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22,23,31</a:t>
              </a:r>
              <a:endParaRPr lang="en-US" altLang="zh-CN" sz="1800" b="1"/>
            </a:p>
          </p:txBody>
        </p:sp>
        <p:sp>
          <p:nvSpPr>
            <p:cNvPr id="23605" name="Rectangle 40"/>
            <p:cNvSpPr/>
            <p:nvPr/>
          </p:nvSpPr>
          <p:spPr>
            <a:xfrm>
              <a:off x="3552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41,52</a:t>
              </a:r>
              <a:endParaRPr lang="en-US" altLang="zh-CN" sz="1800" b="1"/>
            </a:p>
          </p:txBody>
        </p:sp>
        <p:sp>
          <p:nvSpPr>
            <p:cNvPr id="23606" name="Rectangle 41"/>
            <p:cNvSpPr/>
            <p:nvPr/>
          </p:nvSpPr>
          <p:spPr>
            <a:xfrm>
              <a:off x="4368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58,59,61</a:t>
              </a:r>
              <a:endParaRPr lang="en-US" altLang="zh-CN" sz="1800" b="1"/>
            </a:p>
          </p:txBody>
        </p:sp>
        <p:sp>
          <p:nvSpPr>
            <p:cNvPr id="23607" name="Oval 42"/>
            <p:cNvSpPr/>
            <p:nvPr/>
          </p:nvSpPr>
          <p:spPr>
            <a:xfrm>
              <a:off x="1200" y="96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11:</a:t>
              </a:r>
              <a:r>
                <a:rPr lang="en-US" altLang="zh-CN" sz="1800" b="1">
                  <a:sym typeface="Symbol" panose="05050102010706020507" pitchFamily="18" charset="2"/>
                </a:rPr>
                <a:t>16</a:t>
              </a:r>
              <a:endParaRPr lang="en-US" altLang="zh-CN" sz="1800" b="1"/>
            </a:p>
          </p:txBody>
        </p:sp>
        <p:sp>
          <p:nvSpPr>
            <p:cNvPr id="23608" name="Oval 43"/>
            <p:cNvSpPr/>
            <p:nvPr/>
          </p:nvSpPr>
          <p:spPr>
            <a:xfrm>
              <a:off x="3504" y="96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41:58</a:t>
              </a:r>
              <a:endParaRPr lang="en-US" altLang="zh-CN" sz="1800" b="1"/>
            </a:p>
          </p:txBody>
        </p:sp>
        <p:sp>
          <p:nvSpPr>
            <p:cNvPr id="23609" name="Line 44"/>
            <p:cNvSpPr/>
            <p:nvPr/>
          </p:nvSpPr>
          <p:spPr>
            <a:xfrm flipH="1">
              <a:off x="624" y="120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0" name="Line 45"/>
            <p:cNvSpPr/>
            <p:nvPr/>
          </p:nvSpPr>
          <p:spPr>
            <a:xfrm>
              <a:off x="1728" y="1200"/>
              <a:ext cx="19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1" name="Line 46"/>
            <p:cNvSpPr/>
            <p:nvPr/>
          </p:nvSpPr>
          <p:spPr>
            <a:xfrm flipH="1">
              <a:off x="3120" y="1200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2" name="Line 47"/>
            <p:cNvSpPr/>
            <p:nvPr/>
          </p:nvSpPr>
          <p:spPr>
            <a:xfrm>
              <a:off x="3840" y="1248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3" name="Line 48"/>
            <p:cNvSpPr/>
            <p:nvPr/>
          </p:nvSpPr>
          <p:spPr>
            <a:xfrm>
              <a:off x="4032" y="120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3614" name="Group 49"/>
            <p:cNvGrpSpPr/>
            <p:nvPr/>
          </p:nvGrpSpPr>
          <p:grpSpPr>
            <a:xfrm>
              <a:off x="1728" y="528"/>
              <a:ext cx="1872" cy="480"/>
              <a:chOff x="1728" y="528"/>
              <a:chExt cx="1872" cy="480"/>
            </a:xfrm>
          </p:grpSpPr>
          <p:sp>
            <p:nvSpPr>
              <p:cNvPr id="23618" name="Oval 50"/>
              <p:cNvSpPr/>
              <p:nvPr/>
            </p:nvSpPr>
            <p:spPr>
              <a:xfrm>
                <a:off x="2400" y="528"/>
                <a:ext cx="624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/>
                  <a:t>22:</a:t>
                </a:r>
                <a:r>
                  <a:rPr lang="en-US" altLang="zh-CN" sz="1800" b="1">
                    <a:sym typeface="Symbol" panose="05050102010706020507" pitchFamily="18" charset="2"/>
                  </a:rPr>
                  <a:t></a:t>
                </a:r>
                <a:endParaRPr lang="en-US" altLang="zh-CN" sz="1800" b="1"/>
              </a:p>
            </p:txBody>
          </p:sp>
          <p:sp>
            <p:nvSpPr>
              <p:cNvPr id="23619" name="Line 51"/>
              <p:cNvSpPr/>
              <p:nvPr/>
            </p:nvSpPr>
            <p:spPr>
              <a:xfrm flipH="1">
                <a:off x="1728" y="720"/>
                <a:ext cx="672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20" name="Line 52"/>
              <p:cNvSpPr/>
              <p:nvPr/>
            </p:nvSpPr>
            <p:spPr>
              <a:xfrm>
                <a:off x="3024" y="720"/>
                <a:ext cx="576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615" name="Rectangle 53"/>
            <p:cNvSpPr/>
            <p:nvPr/>
          </p:nvSpPr>
          <p:spPr>
            <a:xfrm>
              <a:off x="1824" y="1488"/>
              <a:ext cx="672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16,17,</a:t>
              </a:r>
              <a:r>
                <a:rPr lang="en-US" altLang="zh-CN" sz="1800" b="1">
                  <a:solidFill>
                    <a:srgbClr val="008000"/>
                  </a:solidFill>
                </a:rPr>
                <a:t>18</a:t>
              </a:r>
              <a:endParaRPr lang="en-US" altLang="zh-CN" sz="1800" b="1">
                <a:solidFill>
                  <a:srgbClr val="008000"/>
                </a:solidFill>
              </a:endParaRPr>
            </a:p>
          </p:txBody>
        </p:sp>
        <p:sp>
          <p:nvSpPr>
            <p:cNvPr id="23616" name="Rectangle 54"/>
            <p:cNvSpPr/>
            <p:nvPr/>
          </p:nvSpPr>
          <p:spPr>
            <a:xfrm>
              <a:off x="288" y="148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990099"/>
                  </a:solidFill>
                </a:rPr>
                <a:t>1</a:t>
              </a:r>
              <a:r>
                <a:rPr lang="en-US" altLang="zh-CN" sz="1800" b="1"/>
                <a:t>, 8</a:t>
              </a:r>
              <a:endParaRPr lang="en-US" altLang="zh-CN" sz="1800" b="1"/>
            </a:p>
          </p:txBody>
        </p:sp>
        <p:sp>
          <p:nvSpPr>
            <p:cNvPr id="23617" name="Line 55"/>
            <p:cNvSpPr/>
            <p:nvPr/>
          </p:nvSpPr>
          <p:spPr>
            <a:xfrm flipH="1">
              <a:off x="1392" y="1248"/>
              <a:ext cx="96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104" name="Text Box 56"/>
          <p:cNvSpPr txBox="1"/>
          <p:nvPr/>
        </p:nvSpPr>
        <p:spPr>
          <a:xfrm>
            <a:off x="6477000" y="3062288"/>
            <a:ext cx="22098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Insert: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chemeClr val="accent2"/>
                </a:solidFill>
              </a:rPr>
              <a:t>19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130105" name="Rectangle 57"/>
          <p:cNvSpPr/>
          <p:nvPr/>
        </p:nvSpPr>
        <p:spPr>
          <a:xfrm>
            <a:off x="3200400" y="2362200"/>
            <a:ext cx="1066800" cy="381000"/>
          </a:xfrm>
          <a:prstGeom prst="rect">
            <a:avLst/>
          </a:prstGeom>
          <a:solidFill>
            <a:schemeClr val="accent2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106" name="Oval 58"/>
          <p:cNvSpPr/>
          <p:nvPr/>
        </p:nvSpPr>
        <p:spPr>
          <a:xfrm>
            <a:off x="2209800" y="1524000"/>
            <a:ext cx="990600" cy="4572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107" name="Text Box 59"/>
          <p:cNvSpPr txBox="1"/>
          <p:nvPr/>
        </p:nvSpPr>
        <p:spPr>
          <a:xfrm>
            <a:off x="5029200" y="609600"/>
            <a:ext cx="685800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US" altLang="zh-CN" b="1">
              <a:solidFill>
                <a:srgbClr val="FF0000"/>
              </a:solidFill>
            </a:endParaRPr>
          </a:p>
        </p:txBody>
      </p:sp>
      <p:grpSp>
        <p:nvGrpSpPr>
          <p:cNvPr id="8" name="Group 60"/>
          <p:cNvGrpSpPr/>
          <p:nvPr/>
        </p:nvGrpSpPr>
        <p:grpSpPr>
          <a:xfrm>
            <a:off x="762000" y="3810000"/>
            <a:ext cx="7543800" cy="2057400"/>
            <a:chOff x="432" y="2256"/>
            <a:chExt cx="4752" cy="1296"/>
          </a:xfrm>
        </p:grpSpPr>
        <p:sp>
          <p:nvSpPr>
            <p:cNvPr id="23582" name="Rectangle 61"/>
            <p:cNvSpPr/>
            <p:nvPr/>
          </p:nvSpPr>
          <p:spPr>
            <a:xfrm>
              <a:off x="912" y="3312"/>
              <a:ext cx="480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11,12</a:t>
              </a:r>
              <a:endParaRPr lang="en-US" altLang="zh-CN" sz="1800" b="1"/>
            </a:p>
          </p:txBody>
        </p:sp>
        <p:sp>
          <p:nvSpPr>
            <p:cNvPr id="23583" name="Rectangle 62"/>
            <p:cNvSpPr/>
            <p:nvPr/>
          </p:nvSpPr>
          <p:spPr>
            <a:xfrm>
              <a:off x="2880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22,23,31</a:t>
              </a:r>
              <a:endParaRPr lang="en-US" altLang="zh-CN" sz="1800" b="1"/>
            </a:p>
          </p:txBody>
        </p:sp>
        <p:sp>
          <p:nvSpPr>
            <p:cNvPr id="23584" name="Rectangle 63"/>
            <p:cNvSpPr/>
            <p:nvPr/>
          </p:nvSpPr>
          <p:spPr>
            <a:xfrm>
              <a:off x="3696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41,52</a:t>
              </a:r>
              <a:endParaRPr lang="en-US" altLang="zh-CN" sz="1800" b="1"/>
            </a:p>
          </p:txBody>
        </p:sp>
        <p:sp>
          <p:nvSpPr>
            <p:cNvPr id="23585" name="Rectangle 64"/>
            <p:cNvSpPr/>
            <p:nvPr/>
          </p:nvSpPr>
          <p:spPr>
            <a:xfrm>
              <a:off x="4512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58,59,61</a:t>
              </a:r>
              <a:endParaRPr lang="en-US" altLang="zh-CN" sz="1800" b="1"/>
            </a:p>
          </p:txBody>
        </p:sp>
        <p:sp>
          <p:nvSpPr>
            <p:cNvPr id="23586" name="Oval 65"/>
            <p:cNvSpPr/>
            <p:nvPr/>
          </p:nvSpPr>
          <p:spPr>
            <a:xfrm>
              <a:off x="672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3587" name="Oval 66"/>
            <p:cNvSpPr/>
            <p:nvPr/>
          </p:nvSpPr>
          <p:spPr>
            <a:xfrm>
              <a:off x="3648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41:58</a:t>
              </a:r>
              <a:endParaRPr lang="en-US" altLang="zh-CN" sz="1800" b="1"/>
            </a:p>
          </p:txBody>
        </p:sp>
        <p:sp>
          <p:nvSpPr>
            <p:cNvPr id="23588" name="Line 67"/>
            <p:cNvSpPr/>
            <p:nvPr/>
          </p:nvSpPr>
          <p:spPr>
            <a:xfrm flipH="1">
              <a:off x="672" y="3072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9" name="Line 68"/>
            <p:cNvSpPr/>
            <p:nvPr/>
          </p:nvSpPr>
          <p:spPr>
            <a:xfrm>
              <a:off x="2304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0" name="Line 69"/>
            <p:cNvSpPr/>
            <p:nvPr/>
          </p:nvSpPr>
          <p:spPr>
            <a:xfrm flipH="1">
              <a:off x="3264" y="3024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1" name="Line 70"/>
            <p:cNvSpPr/>
            <p:nvPr/>
          </p:nvSpPr>
          <p:spPr>
            <a:xfrm>
              <a:off x="398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2" name="Line 71"/>
            <p:cNvSpPr/>
            <p:nvPr/>
          </p:nvSpPr>
          <p:spPr>
            <a:xfrm>
              <a:off x="4176" y="3024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3" name="Oval 72"/>
            <p:cNvSpPr/>
            <p:nvPr/>
          </p:nvSpPr>
          <p:spPr>
            <a:xfrm>
              <a:off x="2160" y="2256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16:</a:t>
              </a:r>
              <a:r>
                <a:rPr lang="en-US" altLang="zh-CN" sz="1800" b="1">
                  <a:sym typeface="Symbol" panose="05050102010706020507" pitchFamily="18" charset="2"/>
                </a:rPr>
                <a:t>22</a:t>
              </a:r>
              <a:endParaRPr lang="en-US" altLang="zh-CN" sz="1800" b="1"/>
            </a:p>
          </p:txBody>
        </p:sp>
        <p:sp>
          <p:nvSpPr>
            <p:cNvPr id="23594" name="Line 73"/>
            <p:cNvSpPr/>
            <p:nvPr/>
          </p:nvSpPr>
          <p:spPr>
            <a:xfrm flipH="1">
              <a:off x="1152" y="2448"/>
              <a:ext cx="1008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5" name="Line 74"/>
            <p:cNvSpPr/>
            <p:nvPr/>
          </p:nvSpPr>
          <p:spPr>
            <a:xfrm>
              <a:off x="2784" y="2448"/>
              <a:ext cx="96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6" name="Rectangle 75"/>
            <p:cNvSpPr/>
            <p:nvPr/>
          </p:nvSpPr>
          <p:spPr>
            <a:xfrm>
              <a:off x="1584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16,17</a:t>
              </a:r>
              <a:endParaRPr lang="en-US" altLang="zh-CN" sz="1800" b="1">
                <a:solidFill>
                  <a:srgbClr val="008000"/>
                </a:solidFill>
              </a:endParaRPr>
            </a:p>
          </p:txBody>
        </p:sp>
        <p:sp>
          <p:nvSpPr>
            <p:cNvPr id="23597" name="Rectangle 76"/>
            <p:cNvSpPr/>
            <p:nvPr/>
          </p:nvSpPr>
          <p:spPr>
            <a:xfrm>
              <a:off x="432" y="3312"/>
              <a:ext cx="43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990099"/>
                  </a:solidFill>
                </a:rPr>
                <a:t>1</a:t>
              </a:r>
              <a:r>
                <a:rPr lang="en-US" altLang="zh-CN" sz="1800" b="1"/>
                <a:t>, 8</a:t>
              </a:r>
              <a:endParaRPr lang="en-US" altLang="zh-CN" sz="1800" b="1"/>
            </a:p>
          </p:txBody>
        </p:sp>
        <p:sp>
          <p:nvSpPr>
            <p:cNvPr id="23598" name="Line 77"/>
            <p:cNvSpPr/>
            <p:nvPr/>
          </p:nvSpPr>
          <p:spPr>
            <a:xfrm>
              <a:off x="110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9" name="Rectangle 78"/>
            <p:cNvSpPr/>
            <p:nvPr/>
          </p:nvSpPr>
          <p:spPr>
            <a:xfrm>
              <a:off x="2160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008000"/>
                  </a:solidFill>
                </a:rPr>
                <a:t>18</a:t>
              </a:r>
              <a:r>
                <a:rPr lang="en-US" altLang="zh-CN" sz="1800" b="1"/>
                <a:t>,</a:t>
              </a:r>
              <a:r>
                <a:rPr lang="en-US" altLang="zh-CN" sz="1800" b="1">
                  <a:solidFill>
                    <a:schemeClr val="accent2"/>
                  </a:solidFill>
                </a:rPr>
                <a:t>19</a:t>
              </a:r>
              <a:endParaRPr lang="en-US" altLang="zh-CN" sz="1800" b="1">
                <a:solidFill>
                  <a:schemeClr val="accent2"/>
                </a:solidFill>
              </a:endParaRPr>
            </a:p>
          </p:txBody>
        </p:sp>
        <p:sp>
          <p:nvSpPr>
            <p:cNvPr id="23600" name="Oval 79"/>
            <p:cNvSpPr/>
            <p:nvPr/>
          </p:nvSpPr>
          <p:spPr>
            <a:xfrm>
              <a:off x="1824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18: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3601" name="Line 80"/>
            <p:cNvSpPr/>
            <p:nvPr/>
          </p:nvSpPr>
          <p:spPr>
            <a:xfrm flipH="1">
              <a:off x="1872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2" name="Line 81"/>
            <p:cNvSpPr/>
            <p:nvPr/>
          </p:nvSpPr>
          <p:spPr>
            <a:xfrm flipH="1">
              <a:off x="2208" y="2544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130" name="Text Box 82"/>
          <p:cNvSpPr txBox="1"/>
          <p:nvPr/>
        </p:nvSpPr>
        <p:spPr>
          <a:xfrm>
            <a:off x="6172200" y="3733800"/>
            <a:ext cx="22098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Insert: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28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30131" name="Rectangle 83"/>
          <p:cNvSpPr/>
          <p:nvPr/>
        </p:nvSpPr>
        <p:spPr>
          <a:xfrm>
            <a:off x="4648200" y="5486400"/>
            <a:ext cx="1066800" cy="3810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132" name="Oval 84"/>
          <p:cNvSpPr/>
          <p:nvPr/>
        </p:nvSpPr>
        <p:spPr>
          <a:xfrm>
            <a:off x="5867400" y="4648200"/>
            <a:ext cx="990600" cy="4572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130133" name="Oval 85"/>
          <p:cNvSpPr/>
          <p:nvPr/>
        </p:nvSpPr>
        <p:spPr>
          <a:xfrm>
            <a:off x="3505200" y="3810000"/>
            <a:ext cx="990600" cy="4572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/>
          </a:p>
        </p:txBody>
      </p:sp>
      <p:sp>
        <p:nvSpPr>
          <p:cNvPr id="23581" name="Text Box 87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0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0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0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0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30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0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30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30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/>
      <p:bldP spid="130070" grpId="0"/>
      <p:bldP spid="130074" grpId="0" animBg="1"/>
      <p:bldP spid="130075" grpId="0"/>
      <p:bldP spid="130079" grpId="0" animBg="1"/>
      <p:bldP spid="130080" grpId="0"/>
      <p:bldP spid="130081" grpId="0" animBg="1"/>
      <p:bldP spid="130082" grpId="0"/>
      <p:bldP spid="130083" grpId="0" animBg="1"/>
      <p:bldP spid="130084" grpId="0" animBg="1"/>
      <p:bldP spid="130104" grpId="0"/>
      <p:bldP spid="130105" grpId="0" animBg="1"/>
      <p:bldP spid="130106" grpId="0" animBg="1"/>
      <p:bldP spid="130107" grpId="0"/>
      <p:bldP spid="130130" grpId="0"/>
      <p:bldP spid="130131" grpId="0" animBg="1"/>
      <p:bldP spid="130132" grpId="0" animBg="1"/>
      <p:bldP spid="1301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4578" name="Group 3"/>
          <p:cNvGrpSpPr/>
          <p:nvPr/>
        </p:nvGrpSpPr>
        <p:grpSpPr>
          <a:xfrm>
            <a:off x="685800" y="533400"/>
            <a:ext cx="7543800" cy="2819400"/>
            <a:chOff x="432" y="192"/>
            <a:chExt cx="4752" cy="1776"/>
          </a:xfrm>
        </p:grpSpPr>
        <p:sp>
          <p:nvSpPr>
            <p:cNvPr id="24583" name="Rectangle 4"/>
            <p:cNvSpPr/>
            <p:nvPr/>
          </p:nvSpPr>
          <p:spPr>
            <a:xfrm>
              <a:off x="912" y="1728"/>
              <a:ext cx="480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11,12</a:t>
              </a:r>
              <a:endParaRPr lang="en-US" altLang="zh-CN" sz="1800" b="1"/>
            </a:p>
          </p:txBody>
        </p:sp>
        <p:sp>
          <p:nvSpPr>
            <p:cNvPr id="24584" name="Rectangle 5"/>
            <p:cNvSpPr/>
            <p:nvPr/>
          </p:nvSpPr>
          <p:spPr>
            <a:xfrm>
              <a:off x="2736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22,23</a:t>
              </a:r>
              <a:endParaRPr lang="en-US" altLang="zh-CN" sz="1800" b="1"/>
            </a:p>
          </p:txBody>
        </p:sp>
        <p:sp>
          <p:nvSpPr>
            <p:cNvPr id="24585" name="Rectangle 6"/>
            <p:cNvSpPr/>
            <p:nvPr/>
          </p:nvSpPr>
          <p:spPr>
            <a:xfrm>
              <a:off x="3936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41,52</a:t>
              </a:r>
              <a:endParaRPr lang="en-US" altLang="zh-CN" sz="1800" b="1"/>
            </a:p>
          </p:txBody>
        </p:sp>
        <p:sp>
          <p:nvSpPr>
            <p:cNvPr id="24586" name="Rectangle 7"/>
            <p:cNvSpPr/>
            <p:nvPr/>
          </p:nvSpPr>
          <p:spPr>
            <a:xfrm>
              <a:off x="4512" y="172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58,59,61</a:t>
              </a:r>
              <a:endParaRPr lang="en-US" altLang="zh-CN" sz="1800" b="1"/>
            </a:p>
          </p:txBody>
        </p:sp>
        <p:sp>
          <p:nvSpPr>
            <p:cNvPr id="24587" name="Oval 8"/>
            <p:cNvSpPr/>
            <p:nvPr/>
          </p:nvSpPr>
          <p:spPr>
            <a:xfrm>
              <a:off x="672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11: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588" name="Oval 9"/>
            <p:cNvSpPr/>
            <p:nvPr/>
          </p:nvSpPr>
          <p:spPr>
            <a:xfrm>
              <a:off x="4176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58: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589" name="Line 10"/>
            <p:cNvSpPr/>
            <p:nvPr/>
          </p:nvSpPr>
          <p:spPr>
            <a:xfrm flipH="1">
              <a:off x="672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0" name="Line 11"/>
            <p:cNvSpPr/>
            <p:nvPr/>
          </p:nvSpPr>
          <p:spPr>
            <a:xfrm>
              <a:off x="2208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1" name="Line 12"/>
            <p:cNvSpPr/>
            <p:nvPr/>
          </p:nvSpPr>
          <p:spPr>
            <a:xfrm flipH="1">
              <a:off x="2976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2" name="Line 13"/>
            <p:cNvSpPr/>
            <p:nvPr/>
          </p:nvSpPr>
          <p:spPr>
            <a:xfrm>
              <a:off x="3408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3" name="Line 14"/>
            <p:cNvSpPr/>
            <p:nvPr/>
          </p:nvSpPr>
          <p:spPr>
            <a:xfrm>
              <a:off x="4656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4" name="Oval 15"/>
            <p:cNvSpPr/>
            <p:nvPr/>
          </p:nvSpPr>
          <p:spPr>
            <a:xfrm>
              <a:off x="1248" y="67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595" name="Line 16"/>
            <p:cNvSpPr/>
            <p:nvPr/>
          </p:nvSpPr>
          <p:spPr>
            <a:xfrm flipH="1">
              <a:off x="960" y="912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6" name="Line 17"/>
            <p:cNvSpPr/>
            <p:nvPr/>
          </p:nvSpPr>
          <p:spPr>
            <a:xfrm>
              <a:off x="4128" y="912"/>
              <a:ext cx="33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7" name="Rectangle 18"/>
            <p:cNvSpPr/>
            <p:nvPr/>
          </p:nvSpPr>
          <p:spPr>
            <a:xfrm>
              <a:off x="1488" y="1728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16,17</a:t>
              </a:r>
              <a:endParaRPr lang="en-US" altLang="zh-CN" sz="1800" b="1">
                <a:solidFill>
                  <a:srgbClr val="008000"/>
                </a:solidFill>
              </a:endParaRPr>
            </a:p>
          </p:txBody>
        </p:sp>
        <p:sp>
          <p:nvSpPr>
            <p:cNvPr id="24598" name="Rectangle 19"/>
            <p:cNvSpPr/>
            <p:nvPr/>
          </p:nvSpPr>
          <p:spPr>
            <a:xfrm>
              <a:off x="432" y="1728"/>
              <a:ext cx="43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990099"/>
                  </a:solidFill>
                </a:rPr>
                <a:t>1</a:t>
              </a:r>
              <a:r>
                <a:rPr lang="en-US" altLang="zh-CN" sz="1800" b="1"/>
                <a:t>, 8</a:t>
              </a:r>
              <a:endParaRPr lang="en-US" altLang="zh-CN" sz="1800" b="1"/>
            </a:p>
          </p:txBody>
        </p:sp>
        <p:sp>
          <p:nvSpPr>
            <p:cNvPr id="24599" name="Line 20"/>
            <p:cNvSpPr/>
            <p:nvPr/>
          </p:nvSpPr>
          <p:spPr>
            <a:xfrm>
              <a:off x="1104" y="1488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0" name="Rectangle 21"/>
            <p:cNvSpPr/>
            <p:nvPr/>
          </p:nvSpPr>
          <p:spPr>
            <a:xfrm>
              <a:off x="2064" y="1728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008000"/>
                  </a:solidFill>
                </a:rPr>
                <a:t>18</a:t>
              </a:r>
              <a:r>
                <a:rPr lang="en-US" altLang="zh-CN" sz="1800" b="1"/>
                <a:t>,</a:t>
              </a:r>
              <a:r>
                <a:rPr lang="en-US" altLang="zh-CN" sz="1800" b="1">
                  <a:solidFill>
                    <a:schemeClr val="accent2"/>
                  </a:solidFill>
                </a:rPr>
                <a:t>19</a:t>
              </a:r>
              <a:endParaRPr lang="en-US" altLang="zh-CN" sz="1800" b="1">
                <a:solidFill>
                  <a:schemeClr val="accent2"/>
                </a:solidFill>
              </a:endParaRPr>
            </a:p>
          </p:txBody>
        </p:sp>
        <p:sp>
          <p:nvSpPr>
            <p:cNvPr id="24601" name="Oval 22"/>
            <p:cNvSpPr/>
            <p:nvPr/>
          </p:nvSpPr>
          <p:spPr>
            <a:xfrm>
              <a:off x="1728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18: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602" name="Line 23"/>
            <p:cNvSpPr/>
            <p:nvPr/>
          </p:nvSpPr>
          <p:spPr>
            <a:xfrm flipH="1">
              <a:off x="1776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Line 24"/>
            <p:cNvSpPr/>
            <p:nvPr/>
          </p:nvSpPr>
          <p:spPr>
            <a:xfrm>
              <a:off x="1824" y="912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4" name="Rectangle 25"/>
            <p:cNvSpPr/>
            <p:nvPr/>
          </p:nvSpPr>
          <p:spPr>
            <a:xfrm>
              <a:off x="3312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28</a:t>
              </a:r>
              <a:r>
                <a:rPr lang="en-US" altLang="zh-CN" sz="1800" b="1"/>
                <a:t>,31</a:t>
              </a:r>
              <a:endParaRPr lang="en-US" altLang="zh-CN" sz="1800" b="1"/>
            </a:p>
          </p:txBody>
        </p:sp>
        <p:sp>
          <p:nvSpPr>
            <p:cNvPr id="24605" name="Oval 26"/>
            <p:cNvSpPr/>
            <p:nvPr/>
          </p:nvSpPr>
          <p:spPr>
            <a:xfrm>
              <a:off x="2928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28: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606" name="Line 27"/>
            <p:cNvSpPr/>
            <p:nvPr/>
          </p:nvSpPr>
          <p:spPr>
            <a:xfrm flipH="1">
              <a:off x="4176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7" name="Oval 28"/>
            <p:cNvSpPr/>
            <p:nvPr/>
          </p:nvSpPr>
          <p:spPr>
            <a:xfrm>
              <a:off x="2304" y="19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22: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608" name="Oval 29"/>
            <p:cNvSpPr/>
            <p:nvPr/>
          </p:nvSpPr>
          <p:spPr>
            <a:xfrm>
              <a:off x="3552" y="67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/>
                <a:t>41:</a:t>
              </a:r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endParaRPr lang="en-US" altLang="zh-CN" sz="1800" b="1">
                <a:sym typeface="Symbol" panose="05050102010706020507" pitchFamily="18" charset="2"/>
              </a:endParaRPr>
            </a:p>
          </p:txBody>
        </p:sp>
        <p:sp>
          <p:nvSpPr>
            <p:cNvPr id="24609" name="Line 30"/>
            <p:cNvSpPr/>
            <p:nvPr/>
          </p:nvSpPr>
          <p:spPr>
            <a:xfrm flipH="1">
              <a:off x="3264" y="912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0" name="Line 31"/>
            <p:cNvSpPr/>
            <p:nvPr/>
          </p:nvSpPr>
          <p:spPr>
            <a:xfrm flipH="1">
              <a:off x="1776" y="432"/>
              <a:ext cx="62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1" name="Line 32"/>
            <p:cNvSpPr/>
            <p:nvPr/>
          </p:nvSpPr>
          <p:spPr>
            <a:xfrm>
              <a:off x="2832" y="432"/>
              <a:ext cx="768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1105" name="Text Box 33"/>
          <p:cNvSpPr txBox="1"/>
          <p:nvPr/>
        </p:nvSpPr>
        <p:spPr>
          <a:xfrm>
            <a:off x="533400" y="533400"/>
            <a:ext cx="22098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Insert: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008000"/>
                </a:solidFill>
              </a:rPr>
              <a:t>70</a:t>
            </a:r>
            <a:endParaRPr lang="en-US" altLang="zh-CN" sz="2400" b="1">
              <a:solidFill>
                <a:srgbClr val="008000"/>
              </a:solidFill>
            </a:endParaRPr>
          </a:p>
        </p:txBody>
      </p:sp>
      <p:sp>
        <p:nvSpPr>
          <p:cNvPr id="131106" name="AutoShape 34"/>
          <p:cNvSpPr/>
          <p:nvPr/>
        </p:nvSpPr>
        <p:spPr>
          <a:xfrm>
            <a:off x="914400" y="3657600"/>
            <a:ext cx="6553200" cy="1295400"/>
          </a:xfrm>
          <a:prstGeom prst="wedgeEllipseCallout">
            <a:avLst>
              <a:gd name="adj1" fmla="val 47190"/>
              <a:gd name="adj2" fmla="val -82968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/>
              <a:t>First find a sibling with 2 keys and adjust.  Keep more nodes full.</a:t>
            </a:r>
            <a:endParaRPr lang="en-US" altLang="zh-CN" sz="2400" b="1"/>
          </a:p>
        </p:txBody>
      </p:sp>
      <p:sp>
        <p:nvSpPr>
          <p:cNvPr id="131107" name="Text Box 35"/>
          <p:cNvSpPr txBox="1"/>
          <p:nvPr/>
        </p:nvSpPr>
        <p:spPr>
          <a:xfrm>
            <a:off x="685800" y="5105400"/>
            <a:ext cx="7239000" cy="8842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eaLnBrk="1" hangingPunct="1">
              <a:spcBef>
                <a:spcPct val="50000"/>
              </a:spcBef>
              <a:buNone/>
            </a:pPr>
            <a:r>
              <a:rPr lang="en-US" altLang="zh-CN" sz="2800" b="1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>
                <a:solidFill>
                  <a:schemeClr val="hlink"/>
                </a:solidFill>
              </a:rPr>
              <a:t>Deletion </a:t>
            </a:r>
            <a:r>
              <a:rPr lang="en-US" altLang="zh-CN" sz="2400" b="1"/>
              <a:t>is similar to insertion except that the root is removed when it loses two children.</a:t>
            </a:r>
            <a:endParaRPr lang="en-US" altLang="zh-CN" sz="2400" b="1"/>
          </a:p>
        </p:txBody>
      </p:sp>
      <p:sp>
        <p:nvSpPr>
          <p:cNvPr id="24582" name="Text Box 37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05" grpId="0"/>
      <p:bldP spid="131106" grpId="0" animBg="1"/>
      <p:bldP spid="1311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132099" name="Rectangle 3"/>
          <p:cNvSpPr/>
          <p:nvPr/>
        </p:nvSpPr>
        <p:spPr>
          <a:xfrm>
            <a:off x="457200" y="381000"/>
            <a:ext cx="4191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For a general B+ tree of order 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M</a:t>
            </a:r>
            <a:endParaRPr lang="en-US" altLang="zh-CN" sz="2000" b="1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32100" name="AutoShape 4"/>
          <p:cNvSpPr/>
          <p:nvPr/>
        </p:nvSpPr>
        <p:spPr>
          <a:xfrm>
            <a:off x="609600" y="914400"/>
            <a:ext cx="8001000" cy="403860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80000" tIns="118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Btree  Insert ( ElementType X,  Btree T ) 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{ 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	Search from root to leaf for X and find the proper leaf node;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	Insert X;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	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2000" b="1">
                <a:latin typeface="Arial" panose="020B0604020202020204" pitchFamily="34" charset="0"/>
              </a:rPr>
              <a:t> ( this node has M+1 keys ) {</a:t>
            </a:r>
            <a:endParaRPr lang="en-US" altLang="zh-CN" sz="2000" b="1">
              <a:latin typeface="Arial" panose="020B0604020202020204" pitchFamily="34" charset="0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    		split it into 2 nodes with 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(M+1)/2 and (M+1)/2  keys, respectively;</a:t>
            </a:r>
            <a:endParaRPr lang="en-US" altLang="zh-CN" sz="2000" b="1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    		</a:t>
            </a: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if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 (this node is the root)</a:t>
            </a:r>
            <a:endParaRPr lang="en-US" altLang="zh-CN" sz="2000" b="1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        		create a new root with two children;</a:t>
            </a:r>
            <a:endParaRPr lang="en-US" altLang="zh-CN" sz="2000" b="1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    		check its parent;</a:t>
            </a:r>
            <a:endParaRPr lang="en-US" altLang="zh-CN" sz="2000" b="1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	}</a:t>
            </a:r>
            <a:endParaRPr lang="en-US" altLang="zh-CN" sz="2000" b="1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290830" lvl="0" indent="-290830" eaLnBrk="1" hangingPunct="1">
              <a:spcBef>
                <a:spcPct val="0"/>
              </a:spcBef>
              <a:buNone/>
            </a:pPr>
            <a:r>
              <a:rPr lang="en-US" altLang="zh-CN" sz="2000" b="1">
                <a:latin typeface="Arial" panose="020B0604020202020204" pitchFamily="34" charset="0"/>
              </a:rPr>
              <a:t>} 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sp>
        <p:nvSpPr>
          <p:cNvPr id="132101" name="Text Box 5"/>
          <p:cNvSpPr txBox="1"/>
          <p:nvPr/>
        </p:nvSpPr>
        <p:spPr>
          <a:xfrm>
            <a:off x="609600" y="5029200"/>
            <a:ext cx="2895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eaLnBrk="1" hangingPunct="1">
              <a:spcBef>
                <a:spcPct val="50000"/>
              </a:spcBef>
              <a:buNone/>
            </a:pPr>
            <a:r>
              <a:rPr lang="en-US" altLang="zh-CN" sz="2400" b="1">
                <a:solidFill>
                  <a:schemeClr val="hlink"/>
                </a:solidFill>
                <a:sym typeface="Wingdings" panose="05000000000000000000" pitchFamily="2" charset="2"/>
              </a:rPr>
              <a:t>Depth(</a:t>
            </a:r>
            <a:r>
              <a:rPr lang="en-US" altLang="zh-CN" sz="2400" b="1" i="1">
                <a:solidFill>
                  <a:schemeClr val="hlink"/>
                </a:solidFill>
                <a:sym typeface="Wingdings" panose="05000000000000000000" pitchFamily="2" charset="2"/>
              </a:rPr>
              <a:t>M</a:t>
            </a:r>
            <a:r>
              <a:rPr lang="en-US" altLang="zh-CN" sz="2400" b="1">
                <a:solidFill>
                  <a:schemeClr val="hlink"/>
                </a:solidFill>
                <a:sym typeface="Wingdings" panose="05000000000000000000" pitchFamily="2" charset="2"/>
              </a:rPr>
              <a:t>, </a:t>
            </a:r>
            <a:r>
              <a:rPr lang="en-US" altLang="zh-CN" sz="2400" b="1" i="1">
                <a:solidFill>
                  <a:schemeClr val="hlink"/>
                </a:solidFill>
                <a:sym typeface="Wingdings" panose="05000000000000000000" pitchFamily="2" charset="2"/>
              </a:rPr>
              <a:t>N</a:t>
            </a:r>
            <a:r>
              <a:rPr lang="en-US" altLang="zh-CN" sz="2400" b="1">
                <a:solidFill>
                  <a:schemeClr val="hlink"/>
                </a:solidFill>
                <a:sym typeface="Wingdings" panose="05000000000000000000" pitchFamily="2" charset="2"/>
              </a:rPr>
              <a:t>) = </a:t>
            </a:r>
            <a:endParaRPr lang="en-US" altLang="zh-CN" sz="2400" b="1"/>
          </a:p>
        </p:txBody>
      </p:sp>
      <p:sp>
        <p:nvSpPr>
          <p:cNvPr id="132102" name="Rectangle 6"/>
          <p:cNvSpPr/>
          <p:nvPr/>
        </p:nvSpPr>
        <p:spPr>
          <a:xfrm>
            <a:off x="2743200" y="5029200"/>
            <a:ext cx="2362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>
                <a:sym typeface="Symbol" panose="05050102010706020507" pitchFamily="18" charset="2"/>
              </a:rPr>
              <a:t>O( log</a:t>
            </a:r>
            <a:r>
              <a:rPr lang="en-US" altLang="zh-CN" sz="2400" b="1" baseline="-25000">
                <a:sym typeface="Symbol" panose="05050102010706020507" pitchFamily="18" charset="2"/>
              </a:rPr>
              <a:t>M/2</a:t>
            </a:r>
            <a:r>
              <a:rPr lang="en-US" altLang="zh-CN" sz="2400" b="1">
                <a:sym typeface="Symbol" panose="05050102010706020507" pitchFamily="18" charset="2"/>
              </a:rPr>
              <a:t> N  )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32103" name="AutoShape 7"/>
          <p:cNvSpPr/>
          <p:nvPr/>
        </p:nvSpPr>
        <p:spPr>
          <a:xfrm>
            <a:off x="5410200" y="304800"/>
            <a:ext cx="1905000" cy="1143000"/>
          </a:xfrm>
          <a:prstGeom prst="wedgeEllipseCallout">
            <a:avLst>
              <a:gd name="adj1" fmla="val -154417"/>
              <a:gd name="adj2" fmla="val 135000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/>
              <a:t>T</a:t>
            </a:r>
            <a:r>
              <a:rPr lang="en-US" altLang="zh-CN" sz="2000" b="1"/>
              <a:t> = O(</a:t>
            </a:r>
            <a:r>
              <a:rPr lang="en-US" altLang="zh-CN" sz="2000" b="1" i="1"/>
              <a:t>M</a:t>
            </a:r>
            <a:r>
              <a:rPr lang="en-US" altLang="zh-CN" sz="2000" b="1"/>
              <a:t>)</a:t>
            </a:r>
            <a:endParaRPr lang="en-US" altLang="zh-CN" sz="2000" b="1"/>
          </a:p>
        </p:txBody>
      </p:sp>
      <p:sp>
        <p:nvSpPr>
          <p:cNvPr id="132104" name="Text Box 8"/>
          <p:cNvSpPr txBox="1"/>
          <p:nvPr/>
        </p:nvSpPr>
        <p:spPr>
          <a:xfrm>
            <a:off x="1524000" y="4343400"/>
            <a:ext cx="5867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eaLnBrk="1" hangingPunct="1">
              <a:spcBef>
                <a:spcPct val="50000"/>
              </a:spcBef>
              <a:buNone/>
            </a:pPr>
            <a:r>
              <a:rPr lang="en-US" altLang="zh-CN" sz="2400" b="1" i="1">
                <a:sym typeface="Wingdings" panose="05000000000000000000" pitchFamily="2" charset="2"/>
              </a:rPr>
              <a:t>T</a:t>
            </a:r>
            <a:r>
              <a:rPr lang="en-US" altLang="zh-CN" sz="2400" b="1">
                <a:sym typeface="Wingdings" panose="05000000000000000000" pitchFamily="2" charset="2"/>
              </a:rPr>
              <a:t>(</a:t>
            </a:r>
            <a:r>
              <a:rPr lang="en-US" altLang="zh-CN" sz="2400" b="1" i="1">
                <a:sym typeface="Wingdings" panose="05000000000000000000" pitchFamily="2" charset="2"/>
              </a:rPr>
              <a:t>M</a:t>
            </a:r>
            <a:r>
              <a:rPr lang="en-US" altLang="zh-CN" sz="2400" b="1">
                <a:sym typeface="Wingdings" panose="05000000000000000000" pitchFamily="2" charset="2"/>
              </a:rPr>
              <a:t>, </a:t>
            </a:r>
            <a:r>
              <a:rPr lang="en-US" altLang="zh-CN" sz="2400" b="1" i="1">
                <a:sym typeface="Wingdings" panose="05000000000000000000" pitchFamily="2" charset="2"/>
              </a:rPr>
              <a:t>N</a:t>
            </a:r>
            <a:r>
              <a:rPr lang="en-US" altLang="zh-CN" sz="2400" b="1">
                <a:sym typeface="Wingdings" panose="05000000000000000000" pitchFamily="2" charset="2"/>
              </a:rPr>
              <a:t>) = O( (</a:t>
            </a:r>
            <a:r>
              <a:rPr lang="en-US" altLang="zh-CN" sz="2400" b="1" i="1">
                <a:sym typeface="Wingdings" panose="05000000000000000000" pitchFamily="2" charset="2"/>
              </a:rPr>
              <a:t>M</a:t>
            </a:r>
            <a:r>
              <a:rPr lang="en-US" altLang="zh-CN" sz="2400" b="1">
                <a:sym typeface="Wingdings" panose="05000000000000000000" pitchFamily="2" charset="2"/>
              </a:rPr>
              <a:t>/log </a:t>
            </a:r>
            <a:r>
              <a:rPr lang="en-US" altLang="zh-CN" sz="2400" b="1" i="1">
                <a:sym typeface="Wingdings" panose="05000000000000000000" pitchFamily="2" charset="2"/>
              </a:rPr>
              <a:t>M</a:t>
            </a:r>
            <a:r>
              <a:rPr lang="en-US" altLang="zh-CN" sz="2400" b="1">
                <a:sym typeface="Wingdings" panose="05000000000000000000" pitchFamily="2" charset="2"/>
              </a:rPr>
              <a:t>) log </a:t>
            </a:r>
            <a:r>
              <a:rPr lang="en-US" altLang="zh-CN" sz="2400" b="1" i="1">
                <a:sym typeface="Wingdings" panose="05000000000000000000" pitchFamily="2" charset="2"/>
              </a:rPr>
              <a:t>N</a:t>
            </a:r>
            <a:r>
              <a:rPr lang="en-US" altLang="zh-CN" sz="2400" b="1">
                <a:sym typeface="Wingdings" panose="05000000000000000000" pitchFamily="2" charset="2"/>
              </a:rPr>
              <a:t> )</a:t>
            </a:r>
            <a:endParaRPr lang="en-US" altLang="zh-CN" sz="2400" b="1"/>
          </a:p>
        </p:txBody>
      </p:sp>
      <p:sp>
        <p:nvSpPr>
          <p:cNvPr id="132105" name="Rectangle 9"/>
          <p:cNvSpPr/>
          <p:nvPr/>
        </p:nvSpPr>
        <p:spPr>
          <a:xfrm>
            <a:off x="609600" y="5486400"/>
            <a:ext cx="3581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>
                <a:sym typeface="Wingdings" panose="05000000000000000000" pitchFamily="2" charset="2"/>
              </a:rPr>
              <a:t>T</a:t>
            </a:r>
            <a:r>
              <a:rPr lang="en-US" altLang="zh-CN" sz="2400" b="1" i="1" baseline="-25000">
                <a:solidFill>
                  <a:schemeClr val="hlink"/>
                </a:solidFill>
                <a:sym typeface="Wingdings" panose="05000000000000000000" pitchFamily="2" charset="2"/>
              </a:rPr>
              <a:t>Find</a:t>
            </a:r>
            <a:r>
              <a:rPr lang="en-US" altLang="zh-CN" sz="2400" b="1" i="1">
                <a:sym typeface="Wingdings" panose="05000000000000000000" pitchFamily="2" charset="2"/>
              </a:rPr>
              <a:t> </a:t>
            </a:r>
            <a:r>
              <a:rPr lang="en-US" altLang="zh-CN" sz="2400" b="1">
                <a:sym typeface="Wingdings" panose="05000000000000000000" pitchFamily="2" charset="2"/>
              </a:rPr>
              <a:t>(</a:t>
            </a:r>
            <a:r>
              <a:rPr lang="en-US" altLang="zh-CN" sz="2400" b="1" i="1">
                <a:sym typeface="Wingdings" panose="05000000000000000000" pitchFamily="2" charset="2"/>
              </a:rPr>
              <a:t>M</a:t>
            </a:r>
            <a:r>
              <a:rPr lang="en-US" altLang="zh-CN" sz="2400" b="1">
                <a:sym typeface="Wingdings" panose="05000000000000000000" pitchFamily="2" charset="2"/>
              </a:rPr>
              <a:t>, </a:t>
            </a:r>
            <a:r>
              <a:rPr lang="en-US" altLang="zh-CN" sz="2400" b="1" i="1">
                <a:sym typeface="Wingdings" panose="05000000000000000000" pitchFamily="2" charset="2"/>
              </a:rPr>
              <a:t>N</a:t>
            </a:r>
            <a:r>
              <a:rPr lang="en-US" altLang="zh-CN" sz="2400" b="1">
                <a:sym typeface="Wingdings" panose="05000000000000000000" pitchFamily="2" charset="2"/>
              </a:rPr>
              <a:t>) = O( log </a:t>
            </a:r>
            <a:r>
              <a:rPr lang="en-US" altLang="zh-CN" sz="2400" b="1" i="1">
                <a:sym typeface="Wingdings" panose="05000000000000000000" pitchFamily="2" charset="2"/>
              </a:rPr>
              <a:t>N</a:t>
            </a:r>
            <a:r>
              <a:rPr lang="en-US" altLang="zh-CN" sz="2400" b="1">
                <a:sym typeface="Wingdings" panose="05000000000000000000" pitchFamily="2" charset="2"/>
              </a:rPr>
              <a:t> )</a:t>
            </a:r>
            <a:endParaRPr lang="en-US" altLang="zh-CN" sz="2400" b="1">
              <a:sym typeface="Wingdings" panose="05000000000000000000" pitchFamily="2" charset="2"/>
            </a:endParaRPr>
          </a:p>
        </p:txBody>
      </p:sp>
      <p:sp>
        <p:nvSpPr>
          <p:cNvPr id="132106" name="AutoShape 10" descr="再生纸"/>
          <p:cNvSpPr/>
          <p:nvPr/>
        </p:nvSpPr>
        <p:spPr>
          <a:xfrm>
            <a:off x="5257800" y="5105400"/>
            <a:ext cx="3200400" cy="11430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Note:</a:t>
            </a:r>
            <a:r>
              <a:rPr lang="en-US" altLang="zh-CN" sz="2400" b="1"/>
              <a:t> The best choice of M is </a:t>
            </a: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en-US" altLang="zh-CN" sz="2400" b="1"/>
              <a:t> or </a:t>
            </a: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en-US" altLang="zh-CN" sz="2400" b="1"/>
              <a:t>.</a:t>
            </a:r>
            <a:endParaRPr lang="en-US" altLang="zh-CN" sz="2400" b="1"/>
          </a:p>
        </p:txBody>
      </p:sp>
      <p:sp>
        <p:nvSpPr>
          <p:cNvPr id="25610" name="Text Box 13"/>
          <p:cNvSpPr txBox="1"/>
          <p:nvPr/>
        </p:nvSpPr>
        <p:spPr>
          <a:xfrm>
            <a:off x="6156325" y="0"/>
            <a:ext cx="2987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en-US" altLang="zh-CN" sz="1600" b="1">
                <a:solidFill>
                  <a:schemeClr val="hlink"/>
                </a:solidFill>
                <a:sym typeface="Webdings" panose="05030102010509060703" pitchFamily="18" charset="2"/>
              </a:rPr>
              <a:t>Red-Black Trees and B+ Trees</a:t>
            </a:r>
            <a:endParaRPr lang="en-US" altLang="zh-CN" sz="1600" b="1">
              <a:solidFill>
                <a:schemeClr val="hlink"/>
              </a:solidFill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132100" grpId="0" animBg="1"/>
      <p:bldP spid="132101" grpId="0"/>
      <p:bldP spid="132102" grpId="0"/>
      <p:bldP spid="132103" grpId="0" animBg="1"/>
      <p:bldP spid="132104" grpId="0"/>
      <p:bldP spid="132105" grpId="0"/>
      <p:bldP spid="13210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/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827088" y="1125538"/>
            <a:ext cx="7631113" cy="41767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Reference:</a:t>
            </a:r>
            <a:endParaRPr kumimoji="1" lang="zh-CN" altLang="zh-CN" sz="32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Introduction to Algorithms, 3rd Edition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: Ch.13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p. 308-338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；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Ch.18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p. 484-504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Thomas H.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Cormen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Charles E.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Leiserson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Ronald L.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Rivest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and Clifford Stein. The MIT Press. 2009</a:t>
            </a:r>
            <a:endParaRPr kumimoji="1" lang="zh-CN" altLang="zh-CN" sz="2400" b="1" i="1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4249</Words>
  <Application>WPS 演示</Application>
  <PresentationFormat>全屏显示(4:3)</PresentationFormat>
  <Paragraphs>754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Webdings</vt:lpstr>
      <vt:lpstr>Impact</vt:lpstr>
      <vt:lpstr>Arial Black</vt:lpstr>
      <vt:lpstr>Symbol</vt:lpstr>
      <vt:lpstr>MS Hei</vt:lpstr>
      <vt:lpstr>微软雅黑</vt:lpstr>
      <vt:lpstr>Arial Unicode MS</vt:lpstr>
      <vt:lpstr>默认设计模板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rz</dc:creator>
  <cp:lastModifiedBy>文梓毓</cp:lastModifiedBy>
  <cp:revision>340</cp:revision>
  <dcterms:created xsi:type="dcterms:W3CDTF">2000-07-24T11:13:48Z</dcterms:created>
  <dcterms:modified xsi:type="dcterms:W3CDTF">2025-11-10T08:02:05Z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D77F22CD646D4C54B43E1495B11CD46E_13</vt:lpwstr>
  </property>
  <property fmtid="{D5CDD505-2E9C-101B-9397-08002B2CF9AE}" pid="3" name="KSOProductBuildVer">
    <vt:lpwstr>2052-12.1.0.19770</vt:lpwstr>
  </property>
</Properties>
</file>